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with the line on screen, no team intro. A rep on a live call can promise something the contract does not allow, and today nobody catches it until the call is long over. ClauseCatcher catches it while the call is still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contract used throughout. The rep offers a verbal discount the contract explicitly forbids. The moment it is said, it becomes the customer's expectation. Fixing it after the call means legal, not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Always-on transcription, a per-sentence contradiction check against the contract, and a spoken correction in the contract's own words, not a summary of them. Now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roughly 1:00 to 1:35 of the demo video here. The rep offers an unauthorized discount, ClauseCatcher flags section 3.1 about two seconds after the sentence ends, and the AssemblyAI Voice Agent speaks the clause back word for word. Let the audio play without talking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takes one upload. The PDF's numbered clauses are extracted once and shown exactly as written; those are the only words the app can ever show or speak. The same clause language seeds AssemblyAI's keyterms, and the operator must confirm everyone on the call was told it is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 audio goes to AssemblyAI Streaming STT v3 for an always-on transcript. Each finished sentence goes to Gemini with the contract's clauses, and Gemini returns only a verdict and a clause ID. On a contradiction the server looks up that clause's literal text and has the AssemblyAI Voice Agent speak it. We tried one Voice Agent session for both jobs first; it replied over the rep on its own. Splitting the connections removed that failure instead of prompting around it. It is written up in the repo's ADR.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guess at this. A single Voice Agent session with a system prompt telling it to stay silent still started four replies during rep audio. Injecting the alert as a fake conversation message made the agent ignore the content. Instructing the agent directly, through reply.create, to say a fixed string word for word is what produced a verbatim match: similarity 1.0 against the contract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that puts words in a rep's mouth, or falsely accuses them, is worse than one that occasionally misses something. So the model's only job is choosing which clause applies. It never writes what gets said or shown, and anything uncertain resolves to unclear, not to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numbers from one end-to-end run with real AssemblyAI and Gemini connections, not projections. Alerts arrived about two seconds after the sentence. The server's own check confirmed the spoken alert matched the contract text exactly. First voice audio came back about 78 milliseconds after the speak request, and the whole call used about twelve cents of API usage. Be straight if asked: the rep lines were scripted into the pipeline for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is the team that owns what gets promised on calls: sales-ops and compliance. It is cheap to run, about twelve cents of API usage for the demo call. Next is finishing what the demo does not yet cover live: the real browser-microphone path end to end, a hosted deployment, and multiple contracts. Close on the line on screen: the correction a rep hears is the contract itself, spoken while the call is still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CLAUSECATCHER</a:t>
            </a:r>
            <a:endParaRPr lang="en-US" sz="1200" dirty="0"/>
          </a:p>
        </p:txBody>
      </p:sp>
      <p:sp>
        <p:nvSpPr>
          <p:cNvPr id="3" name="Text 1"/>
          <p:cNvSpPr txBox="1"/>
          <p:nvPr/>
        </p:nvSpPr>
        <p:spPr>
          <a:xfrm>
            <a:off x="548640" y="1691640"/>
            <a:ext cx="6400800" cy="1371600"/>
          </a:xfrm>
          <a:prstGeom prst="rect">
            <a:avLst/>
          </a:prstGeom>
          <a:noFill/>
          <a:ln/>
        </p:spPr>
        <p:txBody>
          <a:bodyPr wrap="square" lIns="0" tIns="0" rIns="0" bIns="0" rtlCol="0" anchor="t"/>
          <a:lstStyle/>
          <a:p>
            <a:pPr indent="0" marL="0">
              <a:lnSpc>
                <a:spcPct val="95000"/>
              </a:lnSpc>
              <a:buNone/>
            </a:pPr>
            <a:r>
              <a:rPr lang="en-US" sz="4000" b="1" dirty="0">
                <a:solidFill>
                  <a:srgbClr val="F8FAFC"/>
                </a:solidFill>
                <a:latin typeface="Arial" pitchFamily="34" charset="0"/>
                <a:ea typeface="Arial" pitchFamily="34" charset="-122"/>
                <a:cs typeface="Arial" pitchFamily="34" charset="-120"/>
              </a:rPr>
              <a:t>Your reps go off-script.</a:t>
            </a:r>
            <a:endParaRPr lang="en-US" sz="4000" dirty="0"/>
          </a:p>
          <a:p>
            <a:pPr indent="0" marL="0">
              <a:lnSpc>
                <a:spcPct val="95000"/>
              </a:lnSpc>
              <a:buNone/>
            </a:pPr>
            <a:r>
              <a:rPr lang="en-US" sz="4000" b="1" dirty="0">
                <a:solidFill>
                  <a:srgbClr val="F8FAFC"/>
                </a:solidFill>
                <a:latin typeface="Arial" pitchFamily="34" charset="0"/>
                <a:ea typeface="Arial" pitchFamily="34" charset="-122"/>
                <a:cs typeface="Arial" pitchFamily="34" charset="-120"/>
              </a:rPr>
              <a:t>Your contract doesn't.</a:t>
            </a:r>
            <a:endParaRPr lang="en-US" sz="4000" dirty="0"/>
          </a:p>
        </p:txBody>
      </p:sp>
      <p:sp>
        <p:nvSpPr>
          <p:cNvPr id="4" name="Text 2"/>
          <p:cNvSpPr txBox="1"/>
          <p:nvPr/>
        </p:nvSpPr>
        <p:spPr>
          <a:xfrm>
            <a:off x="548640" y="3337560"/>
            <a:ext cx="5852160" cy="1188720"/>
          </a:xfrm>
          <a:prstGeom prst="rect">
            <a:avLst/>
          </a:prstGeom>
          <a:noFill/>
          <a:ln/>
        </p:spPr>
        <p:txBody>
          <a:bodyPr wrap="square" lIns="0" tIns="0" rIns="0" bIns="0" rtlCol="0" anchor="t"/>
          <a:lstStyle/>
          <a:p>
            <a:pPr indent="0" marL="0">
              <a:lnSpc>
                <a:spcPct val="115000"/>
              </a:lnSpc>
              <a:buNone/>
            </a:pPr>
            <a:r>
              <a:rPr lang="en-US" sz="1800" dirty="0">
                <a:solidFill>
                  <a:srgbClr val="CBD5E1"/>
                </a:solidFill>
                <a:latin typeface="Arial" pitchFamily="34" charset="0"/>
                <a:ea typeface="Arial" pitchFamily="34" charset="-122"/>
                <a:cs typeface="Arial" pitchFamily="34" charset="-120"/>
              </a:rPr>
              <a:t>ClauseCatcher listens to live sales calls, catches any line that contradicts the signed contract, and reads the exact clause aloud while the customer is still on the line.</a:t>
            </a:r>
            <a:endParaRPr lang="en-US" sz="1800" dirty="0"/>
          </a:p>
        </p:txBody>
      </p:sp>
      <p:sp>
        <p:nvSpPr>
          <p:cNvPr id="5" name="Shape 3"/>
          <p:cNvSpPr/>
          <p:nvPr/>
        </p:nvSpPr>
        <p:spPr>
          <a:xfrm>
            <a:off x="548640" y="4846320"/>
            <a:ext cx="2738628" cy="310896"/>
          </a:xfrm>
          <a:prstGeom prst="roundRect">
            <a:avLst>
              <a:gd name="adj" fmla="val 50000"/>
            </a:avLst>
          </a:prstGeom>
          <a:solidFill>
            <a:srgbClr val="0A1120"/>
          </a:solidFill>
          <a:ln w="12700">
            <a:solidFill>
              <a:srgbClr val="22D3EE"/>
            </a:solidFill>
            <a:prstDash val="solid"/>
          </a:ln>
        </p:spPr>
        <p:txBody>
          <a:bodyPr/>
          <a:p/>
        </p:txBody>
      </p:sp>
      <p:sp>
        <p:nvSpPr>
          <p:cNvPr id="6" name="Text 4"/>
          <p:cNvSpPr txBox="1"/>
          <p:nvPr/>
        </p:nvSpPr>
        <p:spPr>
          <a:xfrm>
            <a:off x="548640" y="4846320"/>
            <a:ext cx="2738628" cy="310896"/>
          </a:xfrm>
          <a:prstGeom prst="rect">
            <a:avLst/>
          </a:prstGeom>
          <a:noFill/>
          <a:ln/>
        </p:spPr>
        <p:txBody>
          <a:bodyPr wrap="square" lIns="0" tIns="0" rIns="0" bIns="0" rtlCol="0" anchor="ctr"/>
          <a:lstStyle/>
          <a:p>
            <a:pPr algn="ctr" indent="0" marL="0">
              <a:buNone/>
            </a:pPr>
            <a:r>
              <a:rPr lang="en-US" sz="1200" b="1" dirty="0">
                <a:solidFill>
                  <a:srgbClr val="22D3EE"/>
                </a:solidFill>
                <a:latin typeface="Consolas" pitchFamily="34" charset="0"/>
                <a:ea typeface="Consolas" pitchFamily="34" charset="-122"/>
                <a:cs typeface="Consolas" pitchFamily="34" charset="-120"/>
              </a:rPr>
              <a:t>AssemblyAI Streaming STT v3</a:t>
            </a:r>
            <a:endParaRPr lang="en-US" sz="1200" dirty="0"/>
          </a:p>
        </p:txBody>
      </p:sp>
      <p:sp>
        <p:nvSpPr>
          <p:cNvPr id="7" name="Shape 5"/>
          <p:cNvSpPr/>
          <p:nvPr/>
        </p:nvSpPr>
        <p:spPr>
          <a:xfrm>
            <a:off x="3424428" y="4846320"/>
            <a:ext cx="2258568" cy="310896"/>
          </a:xfrm>
          <a:prstGeom prst="roundRect">
            <a:avLst>
              <a:gd name="adj" fmla="val 50000"/>
            </a:avLst>
          </a:prstGeom>
          <a:solidFill>
            <a:srgbClr val="0A1120"/>
          </a:solidFill>
          <a:ln w="12700">
            <a:solidFill>
              <a:srgbClr val="22D3EE"/>
            </a:solidFill>
            <a:prstDash val="solid"/>
          </a:ln>
        </p:spPr>
        <p:txBody>
          <a:bodyPr/>
          <a:p/>
        </p:txBody>
      </p:sp>
      <p:sp>
        <p:nvSpPr>
          <p:cNvPr id="8" name="Text 6"/>
          <p:cNvSpPr txBox="1"/>
          <p:nvPr/>
        </p:nvSpPr>
        <p:spPr>
          <a:xfrm>
            <a:off x="3424428" y="4846320"/>
            <a:ext cx="2258568" cy="310896"/>
          </a:xfrm>
          <a:prstGeom prst="rect">
            <a:avLst/>
          </a:prstGeom>
          <a:noFill/>
          <a:ln/>
        </p:spPr>
        <p:txBody>
          <a:bodyPr wrap="square" lIns="0" tIns="0" rIns="0" bIns="0" rtlCol="0" anchor="ctr"/>
          <a:lstStyle/>
          <a:p>
            <a:pPr algn="ctr" indent="0" marL="0">
              <a:buNone/>
            </a:pPr>
            <a:r>
              <a:rPr lang="en-US" sz="1200" b="1" dirty="0">
                <a:solidFill>
                  <a:srgbClr val="22D3EE"/>
                </a:solidFill>
                <a:latin typeface="Consolas" pitchFamily="34" charset="0"/>
                <a:ea typeface="Consolas" pitchFamily="34" charset="-122"/>
                <a:cs typeface="Consolas" pitchFamily="34" charset="-120"/>
              </a:rPr>
              <a:t>AssemblyAI Voice Agent</a:t>
            </a:r>
            <a:endParaRPr lang="en-US" sz="1200" dirty="0"/>
          </a:p>
        </p:txBody>
      </p:sp>
      <p:sp>
        <p:nvSpPr>
          <p:cNvPr id="9" name="Text 7"/>
          <p:cNvSpPr txBox="1"/>
          <p:nvPr/>
        </p:nvSpPr>
        <p:spPr>
          <a:xfrm>
            <a:off x="548640" y="6080760"/>
            <a:ext cx="5486400" cy="274320"/>
          </a:xfrm>
          <a:prstGeom prst="rect">
            <a:avLst/>
          </a:prstGeom>
          <a:noFill/>
          <a:ln/>
        </p:spPr>
        <p:txBody>
          <a:bodyPr wrap="square" lIns="0" tIns="0" rIns="0" bIns="0" rtlCol="0" anchor="t"/>
          <a:lstStyle/>
          <a:p>
            <a:pPr indent="0" marL="0">
              <a:buNone/>
            </a:pPr>
            <a:r>
              <a:rPr lang="en-US" sz="1200" dirty="0">
                <a:solidFill>
                  <a:srgbClr val="94A3B8"/>
                </a:solidFill>
                <a:latin typeface="Consolas" pitchFamily="34" charset="0"/>
                <a:ea typeface="Consolas" pitchFamily="34" charset="-122"/>
                <a:cs typeface="Consolas" pitchFamily="34" charset="-120"/>
              </a:rPr>
              <a:t>github.com/ishal1410/clausecatcher</a:t>
            </a:r>
            <a:endParaRPr lang="en-US" sz="1200" dirty="0"/>
          </a:p>
        </p:txBody>
      </p:sp>
      <p:sp>
        <p:nvSpPr>
          <p:cNvPr id="10" name="Shape 8"/>
          <p:cNvSpPr/>
          <p:nvPr/>
        </p:nvSpPr>
        <p:spPr>
          <a:xfrm>
            <a:off x="7034479" y="1438572"/>
            <a:ext cx="4553712" cy="3980855"/>
          </a:xfrm>
          <a:prstGeom prst="roundRect">
            <a:avLst>
              <a:gd name="adj" fmla="val 2297"/>
            </a:avLst>
          </a:prstGeom>
          <a:solidFill>
            <a:srgbClr val="0A1120"/>
          </a:solidFill>
          <a:ln w="12700">
            <a:solidFill>
              <a:srgbClr val="334155"/>
            </a:solidFill>
            <a:prstDash val="solid"/>
          </a:ln>
          <a:effectLst>
            <a:outerShdw sx="100000" sy="100000" kx="0" ky="0" algn="bl" rotWithShape="0" blurRad="381000" dist="101600" dir="5400000">
              <a:srgbClr val="000000">
                <a:alpha val="50000"/>
              </a:srgbClr>
            </a:outerShdw>
          </a:effectLst>
        </p:spPr>
        <p:txBody>
          <a:bodyPr/>
          <a:p/>
        </p:txBody>
      </p:sp>
      <p:pic>
        <p:nvPicPr>
          <p:cNvPr id="11" name="Image 0" descr="ClauseCatcher landing page: live call card flagging a verbal discount that contradicts contract section 3.1">    </p:cNvPr>
          <p:cNvPicPr>
            <a:picLocks noChangeAspect="1"/>
          </p:cNvPicPr>
          <p:nvPr/>
        </p:nvPicPr>
        <p:blipFill>
          <a:blip r:embed="rId1"/>
          <a:stretch>
            <a:fillRect/>
          </a:stretch>
        </p:blipFill>
        <p:spPr>
          <a:xfrm>
            <a:off x="7071055" y="1475148"/>
            <a:ext cx="4480560" cy="39077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THE PROBLEM</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02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A promise said out loud becomes the deal</a:t>
            </a:r>
            <a:endParaRPr lang="en-US" sz="3600" dirty="0"/>
          </a:p>
        </p:txBody>
      </p:sp>
      <p:sp>
        <p:nvSpPr>
          <p:cNvPr id="5" name="Shape 3"/>
          <p:cNvSpPr/>
          <p:nvPr/>
        </p:nvSpPr>
        <p:spPr>
          <a:xfrm>
            <a:off x="548640" y="1920240"/>
            <a:ext cx="6766560" cy="1600200"/>
          </a:xfrm>
          <a:prstGeom prst="roundRect">
            <a:avLst>
              <a:gd name="adj" fmla="val 8000"/>
            </a:avLst>
          </a:prstGeom>
          <a:solidFill>
            <a:srgbClr val="1B2336"/>
          </a:solidFill>
          <a:ln w="12700">
            <a:solidFill>
              <a:srgbClr val="7F1D1D"/>
            </a:solidFill>
            <a:prstDash val="solid"/>
          </a:ln>
          <a:effectLst>
            <a:outerShdw sx="100000" sy="100000" kx="0" ky="0" algn="bl" rotWithShape="0" blurRad="228600" dist="50800" dir="5400000">
              <a:srgbClr val="000000">
                <a:alpha val="35000"/>
              </a:srgbClr>
            </a:outerShdw>
          </a:effectLst>
        </p:spPr>
        <p:txBody>
          <a:bodyPr/>
          <a:p/>
        </p:txBody>
      </p:sp>
      <p:sp>
        <p:nvSpPr>
          <p:cNvPr id="6" name="Text 4"/>
          <p:cNvSpPr txBox="1"/>
          <p:nvPr/>
        </p:nvSpPr>
        <p:spPr>
          <a:xfrm>
            <a:off x="868680" y="2148840"/>
            <a:ext cx="4572000" cy="274320"/>
          </a:xfrm>
          <a:prstGeom prst="rect">
            <a:avLst/>
          </a:prstGeom>
          <a:noFill/>
          <a:ln/>
        </p:spPr>
        <p:txBody>
          <a:bodyPr wrap="square" lIns="0" tIns="0" rIns="0" bIns="0" rtlCol="0" anchor="t"/>
          <a:lstStyle/>
          <a:p>
            <a:pPr indent="0" marL="0">
              <a:buNone/>
            </a:pPr>
            <a:r>
              <a:rPr lang="en-US" sz="1200" b="1" spc="100" kern="0" dirty="0">
                <a:solidFill>
                  <a:srgbClr val="FCA5A5"/>
                </a:solidFill>
                <a:latin typeface="Consolas" pitchFamily="34" charset="0"/>
                <a:ea typeface="Consolas" pitchFamily="34" charset="-122"/>
                <a:cs typeface="Consolas" pitchFamily="34" charset="-120"/>
              </a:rPr>
              <a:t>REP SAID, ON THE CALL</a:t>
            </a:r>
            <a:endParaRPr lang="en-US" sz="1200" dirty="0"/>
          </a:p>
        </p:txBody>
      </p:sp>
      <p:sp>
        <p:nvSpPr>
          <p:cNvPr id="7" name="Text 5"/>
          <p:cNvSpPr txBox="1"/>
          <p:nvPr/>
        </p:nvSpPr>
        <p:spPr>
          <a:xfrm>
            <a:off x="868680" y="2514600"/>
            <a:ext cx="6126480" cy="868680"/>
          </a:xfrm>
          <a:prstGeom prst="rect">
            <a:avLst/>
          </a:prstGeom>
          <a:noFill/>
          <a:ln/>
        </p:spPr>
        <p:txBody>
          <a:bodyPr wrap="square" lIns="0" tIns="0" rIns="0" bIns="0" rtlCol="0" anchor="t"/>
          <a:lstStyle/>
          <a:p>
            <a:pPr indent="0" marL="0">
              <a:buNone/>
            </a:pPr>
            <a:r>
              <a:rPr lang="en-US" sz="2100" dirty="0">
                <a:solidFill>
                  <a:srgbClr val="F8FAFC"/>
                </a:solidFill>
                <a:latin typeface="Arial" pitchFamily="34" charset="0"/>
                <a:ea typeface="Arial" pitchFamily="34" charset="-122"/>
                <a:cs typeface="Arial" pitchFamily="34" charset="-120"/>
              </a:rPr>
              <a:t>“If you sign this week, we can do a verbal discount on the extra seats.”</a:t>
            </a:r>
            <a:endParaRPr lang="en-US" sz="2100" dirty="0"/>
          </a:p>
        </p:txBody>
      </p:sp>
      <p:sp>
        <p:nvSpPr>
          <p:cNvPr id="8" name="Shape 6"/>
          <p:cNvSpPr/>
          <p:nvPr/>
        </p:nvSpPr>
        <p:spPr>
          <a:xfrm>
            <a:off x="548640" y="3749040"/>
            <a:ext cx="6766560" cy="1920240"/>
          </a:xfrm>
          <a:prstGeom prst="roundRect">
            <a:avLst>
              <a:gd name="adj" fmla="val 6667"/>
            </a:avLst>
          </a:prstGeom>
          <a:solidFill>
            <a:srgbClr val="0A1120"/>
          </a:solidFill>
          <a:ln w="12700">
            <a:solidFill>
              <a:srgbClr val="155E75"/>
            </a:solidFill>
            <a:prstDash val="solid"/>
          </a:ln>
          <a:effectLst>
            <a:outerShdw sx="100000" sy="100000" kx="0" ky="0" algn="bl" rotWithShape="0" blurRad="228600" dist="50800" dir="5400000">
              <a:srgbClr val="000000">
                <a:alpha val="35000"/>
              </a:srgbClr>
            </a:outerShdw>
          </a:effectLst>
        </p:spPr>
        <p:txBody>
          <a:bodyPr/>
          <a:p/>
        </p:txBody>
      </p:sp>
      <p:sp>
        <p:nvSpPr>
          <p:cNvPr id="9" name="Text 7"/>
          <p:cNvSpPr txBox="1"/>
          <p:nvPr/>
        </p:nvSpPr>
        <p:spPr>
          <a:xfrm>
            <a:off x="868680" y="3977640"/>
            <a:ext cx="4572000" cy="274320"/>
          </a:xfrm>
          <a:prstGeom prst="rect">
            <a:avLst/>
          </a:prstGeom>
          <a:noFill/>
          <a:ln/>
        </p:spPr>
        <p:txBody>
          <a:bodyPr wrap="square" lIns="0" tIns="0" rIns="0" bIns="0" rtlCol="0" anchor="t"/>
          <a:lstStyle/>
          <a:p>
            <a:pPr indent="0" marL="0">
              <a:buNone/>
            </a:pPr>
            <a:r>
              <a:rPr lang="en-US" sz="1200" b="1" spc="100" kern="0" dirty="0">
                <a:solidFill>
                  <a:srgbClr val="22D3EE"/>
                </a:solidFill>
                <a:latin typeface="Consolas" pitchFamily="34" charset="0"/>
                <a:ea typeface="Consolas" pitchFamily="34" charset="-122"/>
                <a:cs typeface="Consolas" pitchFamily="34" charset="-120"/>
              </a:rPr>
              <a:t>SIGNED CONTRACT §3.1 SAYS</a:t>
            </a:r>
            <a:endParaRPr lang="en-US" sz="1200" dirty="0"/>
          </a:p>
        </p:txBody>
      </p:sp>
      <p:sp>
        <p:nvSpPr>
          <p:cNvPr id="10" name="Text 8"/>
          <p:cNvSpPr txBox="1"/>
          <p:nvPr/>
        </p:nvSpPr>
        <p:spPr>
          <a:xfrm>
            <a:off x="868680" y="4343400"/>
            <a:ext cx="6126480" cy="1188720"/>
          </a:xfrm>
          <a:prstGeom prst="rect">
            <a:avLst/>
          </a:prstGeom>
          <a:noFill/>
          <a:ln/>
        </p:spPr>
        <p:txBody>
          <a:bodyPr wrap="square" lIns="0" tIns="0" rIns="0" bIns="0" rtlCol="0" anchor="t"/>
          <a:lstStyle/>
          <a:p>
            <a:pPr indent="0" marL="0">
              <a:lnSpc>
                <a:spcPct val="110000"/>
              </a:lnSpc>
              <a:buNone/>
            </a:pPr>
            <a:r>
              <a:rPr lang="en-US" sz="1700" dirty="0">
                <a:solidFill>
                  <a:srgbClr val="F8FAFC"/>
                </a:solidFill>
                <a:latin typeface="Consolas" pitchFamily="34" charset="0"/>
                <a:ea typeface="Consolas" pitchFamily="34" charset="-122"/>
                <a:cs typeface="Consolas" pitchFamily="34" charset="-120"/>
              </a:rPr>
              <a:t>“Flat $48,000 up to 50 seats; extra seats need signed written amendment; no automatic or verbal discounting.”</a:t>
            </a:r>
            <a:endParaRPr lang="en-US" sz="1700" dirty="0"/>
          </a:p>
        </p:txBody>
      </p:sp>
      <p:sp>
        <p:nvSpPr>
          <p:cNvPr id="11" name="Shape 9"/>
          <p:cNvSpPr/>
          <p:nvPr/>
        </p:nvSpPr>
        <p:spPr>
          <a:xfrm>
            <a:off x="7818120" y="2057400"/>
            <a:ext cx="502920" cy="502920"/>
          </a:xfrm>
          <a:prstGeom prst="ellipse">
            <a:avLst/>
          </a:prstGeom>
          <a:solidFill>
            <a:srgbClr val="131C31"/>
          </a:solidFill>
          <a:ln w="12700">
            <a:solidFill>
              <a:srgbClr val="FCA5A5"/>
            </a:solidFill>
            <a:prstDash val="solid"/>
          </a:ln>
        </p:spPr>
        <p:txBody>
          <a:bodyPr/>
          <a:p/>
        </p:txBody>
      </p:sp>
      <p:sp>
        <p:nvSpPr>
          <p:cNvPr id="12" name="Text 10"/>
          <p:cNvSpPr txBox="1"/>
          <p:nvPr/>
        </p:nvSpPr>
        <p:spPr>
          <a:xfrm>
            <a:off x="7818120" y="2057400"/>
            <a:ext cx="502920" cy="502920"/>
          </a:xfrm>
          <a:prstGeom prst="rect">
            <a:avLst/>
          </a:prstGeom>
          <a:noFill/>
          <a:ln/>
        </p:spPr>
        <p:txBody>
          <a:bodyPr wrap="square" lIns="0" tIns="0" rIns="0" bIns="0" rtlCol="0" anchor="ctr"/>
          <a:lstStyle/>
          <a:p>
            <a:pPr algn="ctr" indent="0" marL="0">
              <a:buNone/>
            </a:pPr>
            <a:r>
              <a:rPr lang="en-US" sz="1600" b="1" dirty="0">
                <a:solidFill>
                  <a:srgbClr val="FCA5A5"/>
                </a:solidFill>
                <a:latin typeface="Consolas" pitchFamily="34" charset="0"/>
                <a:ea typeface="Consolas" pitchFamily="34" charset="-122"/>
                <a:cs typeface="Consolas" pitchFamily="34" charset="-120"/>
              </a:rPr>
              <a:t>1</a:t>
            </a:r>
            <a:endParaRPr lang="en-US" sz="1600" dirty="0"/>
          </a:p>
        </p:txBody>
      </p:sp>
      <p:sp>
        <p:nvSpPr>
          <p:cNvPr id="13" name="Text 11"/>
          <p:cNvSpPr txBox="1"/>
          <p:nvPr/>
        </p:nvSpPr>
        <p:spPr>
          <a:xfrm>
            <a:off x="8549640" y="2011680"/>
            <a:ext cx="3093415" cy="731520"/>
          </a:xfrm>
          <a:prstGeom prst="rect">
            <a:avLst/>
          </a:prstGeom>
          <a:noFill/>
          <a:ln/>
        </p:spPr>
        <p:txBody>
          <a:bodyPr wrap="square" lIns="0" tIns="0" rIns="0" bIns="0" rtlCol="0" anchor="ctr"/>
          <a:lstStyle/>
          <a:p>
            <a:pPr indent="0" marL="0">
              <a:buNone/>
            </a:pPr>
            <a:r>
              <a:rPr lang="en-US" sz="2000" dirty="0">
                <a:solidFill>
                  <a:srgbClr val="F8FAFC"/>
                </a:solidFill>
                <a:latin typeface="Arial" pitchFamily="34" charset="0"/>
                <a:ea typeface="Arial" pitchFamily="34" charset="-122"/>
                <a:cs typeface="Arial" pitchFamily="34" charset="-120"/>
              </a:rPr>
              <a:t>Nobody checks the call live</a:t>
            </a:r>
            <a:endParaRPr lang="en-US" sz="2000" dirty="0"/>
          </a:p>
        </p:txBody>
      </p:sp>
      <p:sp>
        <p:nvSpPr>
          <p:cNvPr id="14" name="Shape 12"/>
          <p:cNvSpPr/>
          <p:nvPr/>
        </p:nvSpPr>
        <p:spPr>
          <a:xfrm>
            <a:off x="7818120" y="3246120"/>
            <a:ext cx="502920" cy="502920"/>
          </a:xfrm>
          <a:prstGeom prst="ellipse">
            <a:avLst/>
          </a:prstGeom>
          <a:solidFill>
            <a:srgbClr val="131C31"/>
          </a:solidFill>
          <a:ln w="12700">
            <a:solidFill>
              <a:srgbClr val="FCA5A5"/>
            </a:solidFill>
            <a:prstDash val="solid"/>
          </a:ln>
        </p:spPr>
        <p:txBody>
          <a:bodyPr/>
          <a:p/>
        </p:txBody>
      </p:sp>
      <p:sp>
        <p:nvSpPr>
          <p:cNvPr id="15" name="Text 13"/>
          <p:cNvSpPr txBox="1"/>
          <p:nvPr/>
        </p:nvSpPr>
        <p:spPr>
          <a:xfrm>
            <a:off x="7818120" y="3246120"/>
            <a:ext cx="502920" cy="502920"/>
          </a:xfrm>
          <a:prstGeom prst="rect">
            <a:avLst/>
          </a:prstGeom>
          <a:noFill/>
          <a:ln/>
        </p:spPr>
        <p:txBody>
          <a:bodyPr wrap="square" lIns="0" tIns="0" rIns="0" bIns="0" rtlCol="0" anchor="ctr"/>
          <a:lstStyle/>
          <a:p>
            <a:pPr algn="ctr" indent="0" marL="0">
              <a:buNone/>
            </a:pPr>
            <a:r>
              <a:rPr lang="en-US" sz="1600" b="1" dirty="0">
                <a:solidFill>
                  <a:srgbClr val="FCA5A5"/>
                </a:solidFill>
                <a:latin typeface="Consolas" pitchFamily="34" charset="0"/>
                <a:ea typeface="Consolas" pitchFamily="34" charset="-122"/>
                <a:cs typeface="Consolas" pitchFamily="34" charset="-120"/>
              </a:rPr>
              <a:t>2</a:t>
            </a:r>
            <a:endParaRPr lang="en-US" sz="1600" dirty="0"/>
          </a:p>
        </p:txBody>
      </p:sp>
      <p:sp>
        <p:nvSpPr>
          <p:cNvPr id="16" name="Text 14"/>
          <p:cNvSpPr txBox="1"/>
          <p:nvPr/>
        </p:nvSpPr>
        <p:spPr>
          <a:xfrm>
            <a:off x="8549640" y="3200400"/>
            <a:ext cx="3093415" cy="731520"/>
          </a:xfrm>
          <a:prstGeom prst="rect">
            <a:avLst/>
          </a:prstGeom>
          <a:noFill/>
          <a:ln/>
        </p:spPr>
        <p:txBody>
          <a:bodyPr wrap="square" lIns="0" tIns="0" rIns="0" bIns="0" rtlCol="0" anchor="ctr"/>
          <a:lstStyle/>
          <a:p>
            <a:pPr indent="0" marL="0">
              <a:buNone/>
            </a:pPr>
            <a:r>
              <a:rPr lang="en-US" sz="2000" dirty="0">
                <a:solidFill>
                  <a:srgbClr val="F8FAFC"/>
                </a:solidFill>
                <a:latin typeface="Arial" pitchFamily="34" charset="0"/>
                <a:ea typeface="Arial" pitchFamily="34" charset="-122"/>
                <a:cs typeface="Arial" pitchFamily="34" charset="-120"/>
              </a:rPr>
              <a:t>The gap surfaces after signing</a:t>
            </a:r>
            <a:endParaRPr lang="en-US" sz="2000" dirty="0"/>
          </a:p>
        </p:txBody>
      </p:sp>
      <p:sp>
        <p:nvSpPr>
          <p:cNvPr id="17" name="Shape 15"/>
          <p:cNvSpPr/>
          <p:nvPr/>
        </p:nvSpPr>
        <p:spPr>
          <a:xfrm>
            <a:off x="7818120" y="4434840"/>
            <a:ext cx="502920" cy="502920"/>
          </a:xfrm>
          <a:prstGeom prst="ellipse">
            <a:avLst/>
          </a:prstGeom>
          <a:solidFill>
            <a:srgbClr val="131C31"/>
          </a:solidFill>
          <a:ln w="12700">
            <a:solidFill>
              <a:srgbClr val="FCA5A5"/>
            </a:solidFill>
            <a:prstDash val="solid"/>
          </a:ln>
        </p:spPr>
        <p:txBody>
          <a:bodyPr/>
          <a:p/>
        </p:txBody>
      </p:sp>
      <p:sp>
        <p:nvSpPr>
          <p:cNvPr id="18" name="Text 16"/>
          <p:cNvSpPr txBox="1"/>
          <p:nvPr/>
        </p:nvSpPr>
        <p:spPr>
          <a:xfrm>
            <a:off x="7818120" y="4434840"/>
            <a:ext cx="502920" cy="502920"/>
          </a:xfrm>
          <a:prstGeom prst="rect">
            <a:avLst/>
          </a:prstGeom>
          <a:noFill/>
          <a:ln/>
        </p:spPr>
        <p:txBody>
          <a:bodyPr wrap="square" lIns="0" tIns="0" rIns="0" bIns="0" rtlCol="0" anchor="ctr"/>
          <a:lstStyle/>
          <a:p>
            <a:pPr algn="ctr" indent="0" marL="0">
              <a:buNone/>
            </a:pPr>
            <a:r>
              <a:rPr lang="en-US" sz="1600" b="1" dirty="0">
                <a:solidFill>
                  <a:srgbClr val="FCA5A5"/>
                </a:solidFill>
                <a:latin typeface="Consolas" pitchFamily="34" charset="0"/>
                <a:ea typeface="Consolas" pitchFamily="34" charset="-122"/>
                <a:cs typeface="Consolas" pitchFamily="34" charset="-120"/>
              </a:rPr>
              <a:t>3</a:t>
            </a:r>
            <a:endParaRPr lang="en-US" sz="1600" dirty="0"/>
          </a:p>
        </p:txBody>
      </p:sp>
      <p:sp>
        <p:nvSpPr>
          <p:cNvPr id="19" name="Text 17"/>
          <p:cNvSpPr txBox="1"/>
          <p:nvPr/>
        </p:nvSpPr>
        <p:spPr>
          <a:xfrm>
            <a:off x="8549640" y="4389120"/>
            <a:ext cx="3093415" cy="731520"/>
          </a:xfrm>
          <a:prstGeom prst="rect">
            <a:avLst/>
          </a:prstGeom>
          <a:noFill/>
          <a:ln/>
        </p:spPr>
        <p:txBody>
          <a:bodyPr wrap="square" lIns="0" tIns="0" rIns="0" bIns="0" rtlCol="0" anchor="ctr"/>
          <a:lstStyle/>
          <a:p>
            <a:pPr indent="0" marL="0">
              <a:buNone/>
            </a:pPr>
            <a:r>
              <a:rPr lang="en-US" sz="2000" dirty="0">
                <a:solidFill>
                  <a:srgbClr val="F8FAFC"/>
                </a:solidFill>
                <a:latin typeface="Arial" pitchFamily="34" charset="0"/>
                <a:ea typeface="Arial" pitchFamily="34" charset="-122"/>
                <a:cs typeface="Arial" pitchFamily="34" charset="-120"/>
              </a:rPr>
              <a:t>Then it's a dispute, not a correction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THE SOLUTION</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03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Listen. Check. Speak the clause.</a:t>
            </a:r>
            <a:endParaRPr lang="en-US" sz="3600" dirty="0"/>
          </a:p>
        </p:txBody>
      </p:sp>
      <p:sp>
        <p:nvSpPr>
          <p:cNvPr id="5" name="Shape 3"/>
          <p:cNvSpPr/>
          <p:nvPr/>
        </p:nvSpPr>
        <p:spPr>
          <a:xfrm>
            <a:off x="548640" y="2057400"/>
            <a:ext cx="3484778" cy="3840480"/>
          </a:xfrm>
          <a:prstGeom prst="roundRect">
            <a:avLst>
              <a:gd name="adj" fmla="val 367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6" name="Text 4"/>
          <p:cNvSpPr txBox="1"/>
          <p:nvPr/>
        </p:nvSpPr>
        <p:spPr>
          <a:xfrm>
            <a:off x="914400" y="2423160"/>
            <a:ext cx="1371600" cy="822960"/>
          </a:xfrm>
          <a:prstGeom prst="rect">
            <a:avLst/>
          </a:prstGeom>
          <a:noFill/>
          <a:ln/>
        </p:spPr>
        <p:txBody>
          <a:bodyPr wrap="square" lIns="0" tIns="0" rIns="0" bIns="0" rtlCol="0" anchor="t"/>
          <a:lstStyle/>
          <a:p>
            <a:pPr indent="0" marL="0">
              <a:buNone/>
            </a:pPr>
            <a:r>
              <a:rPr lang="en-US" sz="4400" b="1" dirty="0">
                <a:solidFill>
                  <a:srgbClr val="22D3EE"/>
                </a:solidFill>
                <a:latin typeface="Consolas" pitchFamily="34" charset="0"/>
                <a:ea typeface="Consolas" pitchFamily="34" charset="-122"/>
                <a:cs typeface="Consolas" pitchFamily="34" charset="-120"/>
              </a:rPr>
              <a:t>01</a:t>
            </a:r>
            <a:endParaRPr lang="en-US" sz="4400" dirty="0"/>
          </a:p>
        </p:txBody>
      </p:sp>
      <p:sp>
        <p:nvSpPr>
          <p:cNvPr id="7" name="Text 5"/>
          <p:cNvSpPr txBox="1"/>
          <p:nvPr/>
        </p:nvSpPr>
        <p:spPr>
          <a:xfrm>
            <a:off x="914400" y="3383280"/>
            <a:ext cx="2753258" cy="320040"/>
          </a:xfrm>
          <a:prstGeom prst="rect">
            <a:avLst/>
          </a:prstGeom>
          <a:noFill/>
          <a:ln/>
        </p:spPr>
        <p:txBody>
          <a:bodyPr wrap="square" lIns="0" tIns="0" rIns="0" bIns="0" rtlCol="0" anchor="t"/>
          <a:lstStyle/>
          <a:p>
            <a:pPr indent="0" marL="0">
              <a:buNone/>
            </a:pPr>
            <a:r>
              <a:rPr lang="en-US" sz="1300" b="1" spc="200" kern="0" dirty="0">
                <a:solidFill>
                  <a:srgbClr val="22D3EE"/>
                </a:solidFill>
                <a:latin typeface="Consolas" pitchFamily="34" charset="0"/>
                <a:ea typeface="Consolas" pitchFamily="34" charset="-122"/>
                <a:cs typeface="Consolas" pitchFamily="34" charset="-120"/>
              </a:rPr>
              <a:t>LISTEN</a:t>
            </a:r>
            <a:endParaRPr lang="en-US" sz="1300" dirty="0"/>
          </a:p>
        </p:txBody>
      </p:sp>
      <p:sp>
        <p:nvSpPr>
          <p:cNvPr id="8" name="Text 6"/>
          <p:cNvSpPr txBox="1"/>
          <p:nvPr/>
        </p:nvSpPr>
        <p:spPr>
          <a:xfrm>
            <a:off x="914400" y="3794760"/>
            <a:ext cx="2753258" cy="731520"/>
          </a:xfrm>
          <a:prstGeom prst="rect">
            <a:avLst/>
          </a:prstGeom>
          <a:noFill/>
          <a:ln/>
        </p:spPr>
        <p:txBody>
          <a:bodyPr wrap="square" lIns="0" tIns="0" rIns="0" bIns="0" rtlCol="0" anchor="t"/>
          <a:lstStyle/>
          <a:p>
            <a:pPr indent="0" marL="0">
              <a:buNone/>
            </a:pPr>
            <a:r>
              <a:rPr lang="en-US" sz="2100" b="1" dirty="0">
                <a:solidFill>
                  <a:srgbClr val="F8FAFC"/>
                </a:solidFill>
                <a:latin typeface="Arial" pitchFamily="34" charset="0"/>
                <a:ea typeface="Arial" pitchFamily="34" charset="-122"/>
                <a:cs typeface="Arial" pitchFamily="34" charset="-120"/>
              </a:rPr>
              <a:t>AssemblyAI Streaming STT v3</a:t>
            </a:r>
            <a:endParaRPr lang="en-US" sz="2100" dirty="0"/>
          </a:p>
        </p:txBody>
      </p:sp>
      <p:sp>
        <p:nvSpPr>
          <p:cNvPr id="9" name="Text 7"/>
          <p:cNvSpPr txBox="1"/>
          <p:nvPr/>
        </p:nvSpPr>
        <p:spPr>
          <a:xfrm>
            <a:off x="914400" y="457200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Always-on transcript of the rep, seeded with keyterms from the contract.</a:t>
            </a:r>
            <a:endParaRPr lang="en-US" sz="1600" dirty="0"/>
          </a:p>
        </p:txBody>
      </p:sp>
      <p:sp>
        <p:nvSpPr>
          <p:cNvPr id="10" name="Text 8"/>
          <p:cNvSpPr txBox="1"/>
          <p:nvPr/>
        </p:nvSpPr>
        <p:spPr>
          <a:xfrm>
            <a:off x="4033418" y="2560320"/>
            <a:ext cx="320040"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53458" y="2057400"/>
            <a:ext cx="3484778" cy="3840480"/>
          </a:xfrm>
          <a:prstGeom prst="roundRect">
            <a:avLst>
              <a:gd name="adj" fmla="val 367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2" name="Text 10"/>
          <p:cNvSpPr txBox="1"/>
          <p:nvPr/>
        </p:nvSpPr>
        <p:spPr>
          <a:xfrm>
            <a:off x="4719218" y="2423160"/>
            <a:ext cx="1371600" cy="822960"/>
          </a:xfrm>
          <a:prstGeom prst="rect">
            <a:avLst/>
          </a:prstGeom>
          <a:noFill/>
          <a:ln/>
        </p:spPr>
        <p:txBody>
          <a:bodyPr wrap="square" lIns="0" tIns="0" rIns="0" bIns="0" rtlCol="0" anchor="t"/>
          <a:lstStyle/>
          <a:p>
            <a:pPr indent="0" marL="0">
              <a:buNone/>
            </a:pPr>
            <a:r>
              <a:rPr lang="en-US" sz="4400" b="1" dirty="0">
                <a:solidFill>
                  <a:srgbClr val="818CF8"/>
                </a:solidFill>
                <a:latin typeface="Consolas" pitchFamily="34" charset="0"/>
                <a:ea typeface="Consolas" pitchFamily="34" charset="-122"/>
                <a:cs typeface="Consolas" pitchFamily="34" charset="-120"/>
              </a:rPr>
              <a:t>02</a:t>
            </a:r>
            <a:endParaRPr lang="en-US" sz="4400" dirty="0"/>
          </a:p>
        </p:txBody>
      </p:sp>
      <p:sp>
        <p:nvSpPr>
          <p:cNvPr id="13" name="Text 11"/>
          <p:cNvSpPr txBox="1"/>
          <p:nvPr/>
        </p:nvSpPr>
        <p:spPr>
          <a:xfrm>
            <a:off x="4719218" y="3383280"/>
            <a:ext cx="2753258" cy="320040"/>
          </a:xfrm>
          <a:prstGeom prst="rect">
            <a:avLst/>
          </a:prstGeom>
          <a:noFill/>
          <a:ln/>
        </p:spPr>
        <p:txBody>
          <a:bodyPr wrap="square" lIns="0" tIns="0" rIns="0" bIns="0" rtlCol="0" anchor="t"/>
          <a:lstStyle/>
          <a:p>
            <a:pPr indent="0" marL="0">
              <a:buNone/>
            </a:pPr>
            <a:r>
              <a:rPr lang="en-US" sz="1300" b="1" spc="200" kern="0" dirty="0">
                <a:solidFill>
                  <a:srgbClr val="818CF8"/>
                </a:solidFill>
                <a:latin typeface="Consolas" pitchFamily="34" charset="0"/>
                <a:ea typeface="Consolas" pitchFamily="34" charset="-122"/>
                <a:cs typeface="Consolas" pitchFamily="34" charset="-120"/>
              </a:rPr>
              <a:t>CHECK</a:t>
            </a:r>
            <a:endParaRPr lang="en-US" sz="1300" dirty="0"/>
          </a:p>
        </p:txBody>
      </p:sp>
      <p:sp>
        <p:nvSpPr>
          <p:cNvPr id="14" name="Text 12"/>
          <p:cNvSpPr txBox="1"/>
          <p:nvPr/>
        </p:nvSpPr>
        <p:spPr>
          <a:xfrm>
            <a:off x="4719218" y="3794760"/>
            <a:ext cx="2753258" cy="731520"/>
          </a:xfrm>
          <a:prstGeom prst="rect">
            <a:avLst/>
          </a:prstGeom>
          <a:noFill/>
          <a:ln/>
        </p:spPr>
        <p:txBody>
          <a:bodyPr wrap="square" lIns="0" tIns="0" rIns="0" bIns="0" rtlCol="0" anchor="t"/>
          <a:lstStyle/>
          <a:p>
            <a:pPr indent="0" marL="0">
              <a:buNone/>
            </a:pPr>
            <a:r>
              <a:rPr lang="en-US" sz="2100" b="1" dirty="0">
                <a:solidFill>
                  <a:srgbClr val="F8FAFC"/>
                </a:solidFill>
                <a:latin typeface="Arial" pitchFamily="34" charset="0"/>
                <a:ea typeface="Arial" pitchFamily="34" charset="-122"/>
                <a:cs typeface="Arial" pitchFamily="34" charset="-120"/>
              </a:rPr>
              <a:t>Gemini claim-check</a:t>
            </a:r>
            <a:endParaRPr lang="en-US" sz="2100" dirty="0"/>
          </a:p>
        </p:txBody>
      </p:sp>
      <p:sp>
        <p:nvSpPr>
          <p:cNvPr id="15" name="Text 13"/>
          <p:cNvSpPr txBox="1"/>
          <p:nvPr/>
        </p:nvSpPr>
        <p:spPr>
          <a:xfrm>
            <a:off x="4719218" y="457200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Each finished sentence is checked. The model returns a verdict and a clause ID, never text.</a:t>
            </a:r>
            <a:endParaRPr lang="en-US" sz="1600" dirty="0"/>
          </a:p>
        </p:txBody>
      </p:sp>
      <p:sp>
        <p:nvSpPr>
          <p:cNvPr id="16" name="Text 14"/>
          <p:cNvSpPr txBox="1"/>
          <p:nvPr/>
        </p:nvSpPr>
        <p:spPr>
          <a:xfrm>
            <a:off x="7838237" y="2560320"/>
            <a:ext cx="320040"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8158277" y="2057400"/>
            <a:ext cx="3484778" cy="3840480"/>
          </a:xfrm>
          <a:prstGeom prst="roundRect">
            <a:avLst>
              <a:gd name="adj" fmla="val 367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8" name="Text 16"/>
          <p:cNvSpPr txBox="1"/>
          <p:nvPr/>
        </p:nvSpPr>
        <p:spPr>
          <a:xfrm>
            <a:off x="8524037" y="2423160"/>
            <a:ext cx="1371600" cy="822960"/>
          </a:xfrm>
          <a:prstGeom prst="rect">
            <a:avLst/>
          </a:prstGeom>
          <a:noFill/>
          <a:ln/>
        </p:spPr>
        <p:txBody>
          <a:bodyPr wrap="square" lIns="0" tIns="0" rIns="0" bIns="0" rtlCol="0" anchor="t"/>
          <a:lstStyle/>
          <a:p>
            <a:pPr indent="0" marL="0">
              <a:buNone/>
            </a:pPr>
            <a:r>
              <a:rPr lang="en-US" sz="4400" b="1" dirty="0">
                <a:solidFill>
                  <a:srgbClr val="FCA5A5"/>
                </a:solidFill>
                <a:latin typeface="Consolas" pitchFamily="34" charset="0"/>
                <a:ea typeface="Consolas" pitchFamily="34" charset="-122"/>
                <a:cs typeface="Consolas" pitchFamily="34" charset="-120"/>
              </a:rPr>
              <a:t>03</a:t>
            </a:r>
            <a:endParaRPr lang="en-US" sz="4400" dirty="0"/>
          </a:p>
        </p:txBody>
      </p:sp>
      <p:sp>
        <p:nvSpPr>
          <p:cNvPr id="19" name="Text 17"/>
          <p:cNvSpPr txBox="1"/>
          <p:nvPr/>
        </p:nvSpPr>
        <p:spPr>
          <a:xfrm>
            <a:off x="8524037" y="3383280"/>
            <a:ext cx="2753258" cy="320040"/>
          </a:xfrm>
          <a:prstGeom prst="rect">
            <a:avLst/>
          </a:prstGeom>
          <a:noFill/>
          <a:ln/>
        </p:spPr>
        <p:txBody>
          <a:bodyPr wrap="square" lIns="0" tIns="0" rIns="0" bIns="0" rtlCol="0" anchor="t"/>
          <a:lstStyle/>
          <a:p>
            <a:pPr indent="0" marL="0">
              <a:buNone/>
            </a:pPr>
            <a:r>
              <a:rPr lang="en-US" sz="1300" b="1" spc="200" kern="0" dirty="0">
                <a:solidFill>
                  <a:srgbClr val="FCA5A5"/>
                </a:solidFill>
                <a:latin typeface="Consolas" pitchFamily="34" charset="0"/>
                <a:ea typeface="Consolas" pitchFamily="34" charset="-122"/>
                <a:cs typeface="Consolas" pitchFamily="34" charset="-120"/>
              </a:rPr>
              <a:t>SPEAK</a:t>
            </a:r>
            <a:endParaRPr lang="en-US" sz="1300" dirty="0"/>
          </a:p>
        </p:txBody>
      </p:sp>
      <p:sp>
        <p:nvSpPr>
          <p:cNvPr id="20" name="Text 18"/>
          <p:cNvSpPr txBox="1"/>
          <p:nvPr/>
        </p:nvSpPr>
        <p:spPr>
          <a:xfrm>
            <a:off x="8524037" y="3794760"/>
            <a:ext cx="2753258" cy="731520"/>
          </a:xfrm>
          <a:prstGeom prst="rect">
            <a:avLst/>
          </a:prstGeom>
          <a:noFill/>
          <a:ln/>
        </p:spPr>
        <p:txBody>
          <a:bodyPr wrap="square" lIns="0" tIns="0" rIns="0" bIns="0" rtlCol="0" anchor="t"/>
          <a:lstStyle/>
          <a:p>
            <a:pPr indent="0" marL="0">
              <a:buNone/>
            </a:pPr>
            <a:r>
              <a:rPr lang="en-US" sz="2100" b="1" dirty="0">
                <a:solidFill>
                  <a:srgbClr val="F8FAFC"/>
                </a:solidFill>
                <a:latin typeface="Arial" pitchFamily="34" charset="0"/>
                <a:ea typeface="Arial" pitchFamily="34" charset="-122"/>
                <a:cs typeface="Arial" pitchFamily="34" charset="-120"/>
              </a:rPr>
              <a:t>AssemblyAI Voice Agent</a:t>
            </a:r>
            <a:endParaRPr lang="en-US" sz="2100" dirty="0"/>
          </a:p>
        </p:txBody>
      </p:sp>
      <p:sp>
        <p:nvSpPr>
          <p:cNvPr id="21" name="Text 19"/>
          <p:cNvSpPr txBox="1"/>
          <p:nvPr/>
        </p:nvSpPr>
        <p:spPr>
          <a:xfrm>
            <a:off x="8524037" y="457200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Reads the contract's literal clause aloud, and the cockpit shows the alert card.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LIVE DEMO</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04 / 10</a:t>
            </a:r>
            <a:endParaRPr lang="en-US" sz="1100" dirty="0"/>
          </a:p>
        </p:txBody>
      </p:sp>
      <p:sp>
        <p:nvSpPr>
          <p:cNvPr id="4" name="Text 2"/>
          <p:cNvSpPr txBox="1"/>
          <p:nvPr/>
        </p:nvSpPr>
        <p:spPr>
          <a:xfrm>
            <a:off x="548640" y="868680"/>
            <a:ext cx="3383280" cy="1737360"/>
          </a:xfrm>
          <a:prstGeom prst="rect">
            <a:avLst/>
          </a:prstGeom>
          <a:noFill/>
          <a:ln/>
        </p:spPr>
        <p:txBody>
          <a:bodyPr wrap="square" lIns="0" tIns="0" rIns="0" bIns="0" rtlCol="0" anchor="t"/>
          <a:lstStyle/>
          <a:p>
            <a:pPr indent="0" marL="0">
              <a:lnSpc>
                <a:spcPct val="98000"/>
              </a:lnSpc>
              <a:buNone/>
            </a:pPr>
            <a:r>
              <a:rPr lang="en-US" sz="2800" b="1" dirty="0">
                <a:solidFill>
                  <a:srgbClr val="F8FAFC"/>
                </a:solidFill>
                <a:latin typeface="Arial" pitchFamily="34" charset="0"/>
                <a:ea typeface="Arial" pitchFamily="34" charset="-122"/>
                <a:cs typeface="Arial" pitchFamily="34" charset="-120"/>
              </a:rPr>
              <a:t>Caught mid-call.</a:t>
            </a:r>
            <a:endParaRPr lang="en-US" sz="2800" dirty="0"/>
          </a:p>
          <a:p>
            <a:pPr indent="0" marL="0">
              <a:lnSpc>
                <a:spcPct val="98000"/>
              </a:lnSpc>
              <a:buNone/>
            </a:pPr>
            <a:r>
              <a:rPr lang="en-US" sz="2800" b="1" dirty="0">
                <a:solidFill>
                  <a:srgbClr val="F8FAFC"/>
                </a:solidFill>
                <a:latin typeface="Arial" pitchFamily="34" charset="0"/>
                <a:ea typeface="Arial" pitchFamily="34" charset="-122"/>
                <a:cs typeface="Arial" pitchFamily="34" charset="-120"/>
              </a:rPr>
              <a:t>Spoken back</a:t>
            </a:r>
            <a:endParaRPr lang="en-US" sz="2800" dirty="0"/>
          </a:p>
          <a:p>
            <a:pPr indent="0" marL="0">
              <a:lnSpc>
                <a:spcPct val="98000"/>
              </a:lnSpc>
              <a:buNone/>
            </a:pPr>
            <a:r>
              <a:rPr lang="en-US" sz="2800" b="1" dirty="0">
                <a:solidFill>
                  <a:srgbClr val="F8FAFC"/>
                </a:solidFill>
                <a:latin typeface="Arial" pitchFamily="34" charset="0"/>
                <a:ea typeface="Arial" pitchFamily="34" charset="-122"/>
                <a:cs typeface="Arial" pitchFamily="34" charset="-120"/>
              </a:rPr>
              <a:t>word for word.</a:t>
            </a:r>
            <a:endParaRPr lang="en-US" sz="2800" dirty="0"/>
          </a:p>
        </p:txBody>
      </p:sp>
      <p:sp>
        <p:nvSpPr>
          <p:cNvPr id="5" name="Shape 3"/>
          <p:cNvSpPr/>
          <p:nvPr/>
        </p:nvSpPr>
        <p:spPr>
          <a:xfrm>
            <a:off x="548640" y="2999232"/>
            <a:ext cx="182880" cy="182880"/>
          </a:xfrm>
          <a:prstGeom prst="ellipse">
            <a:avLst/>
          </a:prstGeom>
          <a:solidFill>
            <a:srgbClr val="FCA5A5"/>
          </a:solidFill>
          <a:ln w="12700">
            <a:solidFill>
              <a:srgbClr val="FCA5A5"/>
            </a:solidFill>
            <a:prstDash val="solid"/>
          </a:ln>
        </p:spPr>
        <p:txBody>
          <a:bodyPr/>
          <a:p/>
        </p:txBody>
      </p:sp>
      <p:sp>
        <p:nvSpPr>
          <p:cNvPr id="6" name="Text 4"/>
          <p:cNvSpPr txBox="1"/>
          <p:nvPr/>
        </p:nvSpPr>
        <p:spPr>
          <a:xfrm>
            <a:off x="914400" y="2926080"/>
            <a:ext cx="3017520" cy="548640"/>
          </a:xfrm>
          <a:prstGeom prst="rect">
            <a:avLst/>
          </a:prstGeom>
          <a:noFill/>
          <a:ln/>
        </p:spPr>
        <p:txBody>
          <a:bodyPr wrap="square" lIns="0" tIns="0" rIns="0" bIns="0" rtlCol="0" anchor="t"/>
          <a:lstStyle/>
          <a:p>
            <a:pPr indent="0" marL="0">
              <a:buNone/>
            </a:pPr>
            <a:r>
              <a:rPr lang="en-US" sz="1500" dirty="0">
                <a:solidFill>
                  <a:srgbClr val="F8FAFC"/>
                </a:solidFill>
                <a:latin typeface="Arial" pitchFamily="34" charset="0"/>
                <a:ea typeface="Arial" pitchFamily="34" charset="-122"/>
                <a:cs typeface="Arial" pitchFamily="34" charset="-120"/>
              </a:rPr>
              <a:t>Rep offers a verbal discount</a:t>
            </a:r>
            <a:endParaRPr lang="en-US" sz="1500" dirty="0"/>
          </a:p>
        </p:txBody>
      </p:sp>
      <p:sp>
        <p:nvSpPr>
          <p:cNvPr id="7" name="Shape 5"/>
          <p:cNvSpPr/>
          <p:nvPr/>
        </p:nvSpPr>
        <p:spPr>
          <a:xfrm>
            <a:off x="548640" y="3776472"/>
            <a:ext cx="182880" cy="182880"/>
          </a:xfrm>
          <a:prstGeom prst="ellipse">
            <a:avLst/>
          </a:prstGeom>
          <a:solidFill>
            <a:srgbClr val="818CF8"/>
          </a:solidFill>
          <a:ln w="12700">
            <a:solidFill>
              <a:srgbClr val="818CF8"/>
            </a:solidFill>
            <a:prstDash val="solid"/>
          </a:ln>
        </p:spPr>
        <p:txBody>
          <a:bodyPr/>
          <a:p/>
        </p:txBody>
      </p:sp>
      <p:sp>
        <p:nvSpPr>
          <p:cNvPr id="8" name="Text 6"/>
          <p:cNvSpPr txBox="1"/>
          <p:nvPr/>
        </p:nvSpPr>
        <p:spPr>
          <a:xfrm>
            <a:off x="914400" y="3703320"/>
            <a:ext cx="3017520" cy="548640"/>
          </a:xfrm>
          <a:prstGeom prst="rect">
            <a:avLst/>
          </a:prstGeom>
          <a:noFill/>
          <a:ln/>
        </p:spPr>
        <p:txBody>
          <a:bodyPr wrap="square" lIns="0" tIns="0" rIns="0" bIns="0" rtlCol="0" anchor="t"/>
          <a:lstStyle/>
          <a:p>
            <a:pPr indent="0" marL="0">
              <a:buNone/>
            </a:pPr>
            <a:r>
              <a:rPr lang="en-US" sz="1500" dirty="0">
                <a:solidFill>
                  <a:srgbClr val="F8FAFC"/>
                </a:solidFill>
                <a:latin typeface="Arial" pitchFamily="34" charset="0"/>
                <a:ea typeface="Arial" pitchFamily="34" charset="-122"/>
                <a:cs typeface="Arial" pitchFamily="34" charset="-120"/>
              </a:rPr>
              <a:t>§3.1 flagged in ~5 s</a:t>
            </a:r>
            <a:endParaRPr lang="en-US" sz="1500" dirty="0"/>
          </a:p>
        </p:txBody>
      </p:sp>
      <p:sp>
        <p:nvSpPr>
          <p:cNvPr id="9" name="Shape 7"/>
          <p:cNvSpPr/>
          <p:nvPr/>
        </p:nvSpPr>
        <p:spPr>
          <a:xfrm>
            <a:off x="548640" y="4553712"/>
            <a:ext cx="182880" cy="182880"/>
          </a:xfrm>
          <a:prstGeom prst="ellipse">
            <a:avLst/>
          </a:prstGeom>
          <a:solidFill>
            <a:srgbClr val="22D3EE"/>
          </a:solidFill>
          <a:ln w="12700">
            <a:solidFill>
              <a:srgbClr val="22D3EE"/>
            </a:solidFill>
            <a:prstDash val="solid"/>
          </a:ln>
        </p:spPr>
        <p:txBody>
          <a:bodyPr/>
          <a:p/>
        </p:txBody>
      </p:sp>
      <p:sp>
        <p:nvSpPr>
          <p:cNvPr id="10" name="Text 8"/>
          <p:cNvSpPr txBox="1"/>
          <p:nvPr/>
        </p:nvSpPr>
        <p:spPr>
          <a:xfrm>
            <a:off x="914400" y="4480560"/>
            <a:ext cx="3017520" cy="548640"/>
          </a:xfrm>
          <a:prstGeom prst="rect">
            <a:avLst/>
          </a:prstGeom>
          <a:noFill/>
          <a:ln/>
        </p:spPr>
        <p:txBody>
          <a:bodyPr wrap="square" lIns="0" tIns="0" rIns="0" bIns="0" rtlCol="0" anchor="t"/>
          <a:lstStyle/>
          <a:p>
            <a:pPr indent="0" marL="0">
              <a:buNone/>
            </a:pPr>
            <a:r>
              <a:rPr lang="en-US" sz="1500" dirty="0">
                <a:solidFill>
                  <a:srgbClr val="F8FAFC"/>
                </a:solidFill>
                <a:latin typeface="Arial" pitchFamily="34" charset="0"/>
                <a:ea typeface="Arial" pitchFamily="34" charset="-122"/>
                <a:cs typeface="Arial" pitchFamily="34" charset="-120"/>
              </a:rPr>
              <a:t>Voice Agent reads §3.1 aloud</a:t>
            </a:r>
            <a:endParaRPr lang="en-US" sz="1500" dirty="0"/>
          </a:p>
        </p:txBody>
      </p:sp>
      <p:sp>
        <p:nvSpPr>
          <p:cNvPr id="11" name="Shape 9"/>
          <p:cNvSpPr/>
          <p:nvPr/>
        </p:nvSpPr>
        <p:spPr>
          <a:xfrm>
            <a:off x="548640" y="5330952"/>
            <a:ext cx="182880" cy="182880"/>
          </a:xfrm>
          <a:prstGeom prst="ellipse">
            <a:avLst/>
          </a:prstGeom>
          <a:solidFill>
            <a:srgbClr val="22C55E"/>
          </a:solidFill>
          <a:ln w="12700">
            <a:solidFill>
              <a:srgbClr val="22C55E"/>
            </a:solidFill>
            <a:prstDash val="solid"/>
          </a:ln>
        </p:spPr>
        <p:txBody>
          <a:bodyPr/>
          <a:p/>
        </p:txBody>
      </p:sp>
      <p:sp>
        <p:nvSpPr>
          <p:cNvPr id="12" name="Text 10"/>
          <p:cNvSpPr txBox="1"/>
          <p:nvPr/>
        </p:nvSpPr>
        <p:spPr>
          <a:xfrm>
            <a:off x="914400" y="5257800"/>
            <a:ext cx="3017520" cy="548640"/>
          </a:xfrm>
          <a:prstGeom prst="rect">
            <a:avLst/>
          </a:prstGeom>
          <a:noFill/>
          <a:ln/>
        </p:spPr>
        <p:txBody>
          <a:bodyPr wrap="square" lIns="0" tIns="0" rIns="0" bIns="0" rtlCol="0" anchor="t"/>
          <a:lstStyle/>
          <a:p>
            <a:pPr indent="0" marL="0">
              <a:buNone/>
            </a:pPr>
            <a:r>
              <a:rPr lang="en-US" sz="1500" dirty="0">
                <a:solidFill>
                  <a:srgbClr val="F8FAFC"/>
                </a:solidFill>
                <a:latin typeface="Arial" pitchFamily="34" charset="0"/>
                <a:ea typeface="Arial" pitchFamily="34" charset="-122"/>
                <a:cs typeface="Arial" pitchFamily="34" charset="-120"/>
              </a:rPr>
              <a:t>Marked spoken verbatim</a:t>
            </a:r>
            <a:endParaRPr lang="en-US" sz="1500" dirty="0"/>
          </a:p>
        </p:txBody>
      </p:sp>
      <p:sp>
        <p:nvSpPr>
          <p:cNvPr id="13" name="Shape 11"/>
          <p:cNvSpPr/>
          <p:nvPr/>
        </p:nvSpPr>
        <p:spPr>
          <a:xfrm>
            <a:off x="4218796" y="1106424"/>
            <a:ext cx="7460835" cy="4919472"/>
          </a:xfrm>
          <a:prstGeom prst="roundRect">
            <a:avLst>
              <a:gd name="adj" fmla="val 1859"/>
            </a:avLst>
          </a:prstGeom>
          <a:solidFill>
            <a:srgbClr val="0A1120"/>
          </a:solidFill>
          <a:ln w="12700">
            <a:solidFill>
              <a:srgbClr val="475569"/>
            </a:solidFill>
            <a:prstDash val="solid"/>
          </a:ln>
          <a:effectLst>
            <a:outerShdw sx="100000" sy="100000" kx="0" ky="0" algn="bl" rotWithShape="0" blurRad="381000" dist="101600" dir="5400000">
              <a:srgbClr val="000000">
                <a:alpha val="50000"/>
              </a:srgbClr>
            </a:outerShdw>
          </a:effectLst>
        </p:spPr>
        <p:txBody>
          <a:bodyPr/>
          <a:p/>
        </p:txBody>
      </p:sp>
      <p:pic>
        <p:nvPicPr>
          <p:cNvPr id="14" name="Image 0" descr="ClauseCatcher cockpit mid-alert: rep's verbal discount line next to the literal section 3.1 clause while the AssemblyAI Voice Agent reads it aloud">    </p:cNvPr>
          <p:cNvPicPr>
            <a:picLocks noChangeAspect="1"/>
          </p:cNvPicPr>
          <p:nvPr/>
        </p:nvPicPr>
        <p:blipFill>
          <a:blip r:embed="rId1"/>
          <a:stretch>
            <a:fillRect/>
          </a:stretch>
        </p:blipFill>
        <p:spPr>
          <a:xfrm>
            <a:off x="4255372" y="1143000"/>
            <a:ext cx="7387683" cy="4846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BEFORE THE CALL</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05 / 10</a:t>
            </a:r>
            <a:endParaRPr lang="en-US" sz="1100" dirty="0"/>
          </a:p>
        </p:txBody>
      </p:sp>
      <p:sp>
        <p:nvSpPr>
          <p:cNvPr id="4" name="Text 2"/>
          <p:cNvSpPr txBox="1"/>
          <p:nvPr/>
        </p:nvSpPr>
        <p:spPr>
          <a:xfrm>
            <a:off x="548640" y="868680"/>
            <a:ext cx="5852160" cy="1645920"/>
          </a:xfrm>
          <a:prstGeom prst="rect">
            <a:avLst/>
          </a:prstGeom>
          <a:noFill/>
          <a:ln/>
        </p:spPr>
        <p:txBody>
          <a:bodyPr wrap="square" lIns="0" tIns="0" rIns="0" bIns="0" rtlCol="0" anchor="t"/>
          <a:lstStyle/>
          <a:p>
            <a:pPr indent="0" marL="0">
              <a:lnSpc>
                <a:spcPct val="98000"/>
              </a:lnSpc>
              <a:buNone/>
            </a:pPr>
            <a:r>
              <a:rPr lang="en-US" sz="3400" b="1" dirty="0">
                <a:solidFill>
                  <a:srgbClr val="F8FAFC"/>
                </a:solidFill>
                <a:latin typeface="Arial" pitchFamily="34" charset="0"/>
                <a:ea typeface="Arial" pitchFamily="34" charset="-122"/>
                <a:cs typeface="Arial" pitchFamily="34" charset="-120"/>
              </a:rPr>
              <a:t>Upload the contract.</a:t>
            </a:r>
            <a:endParaRPr lang="en-US" sz="3400" dirty="0"/>
          </a:p>
          <a:p>
            <a:pPr indent="0" marL="0">
              <a:lnSpc>
                <a:spcPct val="98000"/>
              </a:lnSpc>
              <a:buNone/>
            </a:pPr>
            <a:r>
              <a:rPr lang="en-US" sz="3400" b="1" dirty="0">
                <a:solidFill>
                  <a:srgbClr val="F8FAFC"/>
                </a:solidFill>
                <a:latin typeface="Arial" pitchFamily="34" charset="0"/>
                <a:ea typeface="Arial" pitchFamily="34" charset="-122"/>
                <a:cs typeface="Arial" pitchFamily="34" charset="-120"/>
              </a:rPr>
              <a:t>Every clause, quoted exactly.</a:t>
            </a:r>
            <a:endParaRPr lang="en-US" sz="3400" dirty="0"/>
          </a:p>
        </p:txBody>
      </p:sp>
      <p:sp>
        <p:nvSpPr>
          <p:cNvPr id="5" name="Shape 3"/>
          <p:cNvSpPr/>
          <p:nvPr/>
        </p:nvSpPr>
        <p:spPr>
          <a:xfrm>
            <a:off x="548640" y="2788920"/>
            <a:ext cx="548640" cy="548640"/>
          </a:xfrm>
          <a:prstGeom prst="roundRect">
            <a:avLst>
              <a:gd name="adj" fmla="val 20000"/>
            </a:avLst>
          </a:prstGeom>
          <a:solidFill>
            <a:srgbClr val="1B2336"/>
          </a:solidFill>
          <a:ln w="12700">
            <a:solidFill>
              <a:srgbClr val="818CF8"/>
            </a:solidFill>
            <a:prstDash val="solid"/>
          </a:ln>
        </p:spPr>
        <p:txBody>
          <a:bodyPr/>
          <a:p/>
        </p:txBody>
      </p:sp>
      <p:sp>
        <p:nvSpPr>
          <p:cNvPr id="6" name="Text 4"/>
          <p:cNvSpPr txBox="1"/>
          <p:nvPr/>
        </p:nvSpPr>
        <p:spPr>
          <a:xfrm>
            <a:off x="548640" y="2788920"/>
            <a:ext cx="548640" cy="548640"/>
          </a:xfrm>
          <a:prstGeom prst="rect">
            <a:avLst/>
          </a:prstGeom>
          <a:noFill/>
          <a:ln/>
        </p:spPr>
        <p:txBody>
          <a:bodyPr wrap="square" lIns="0" tIns="0" rIns="0" bIns="0" rtlCol="0" anchor="ctr"/>
          <a:lstStyle/>
          <a:p>
            <a:pPr algn="ctr" indent="0" marL="0">
              <a:buNone/>
            </a:pPr>
            <a:r>
              <a:rPr lang="en-US" sz="2000" b="1" dirty="0">
                <a:solidFill>
                  <a:srgbClr val="818CF8"/>
                </a:solidFill>
                <a:latin typeface="Consolas" pitchFamily="34" charset="0"/>
                <a:ea typeface="Consolas" pitchFamily="34" charset="-122"/>
                <a:cs typeface="Consolas" pitchFamily="34" charset="-120"/>
              </a:rPr>
              <a:t>§</a:t>
            </a:r>
            <a:endParaRPr lang="en-US" sz="2000" dirty="0"/>
          </a:p>
        </p:txBody>
      </p:sp>
      <p:sp>
        <p:nvSpPr>
          <p:cNvPr id="7" name="Text 5"/>
          <p:cNvSpPr txBox="1"/>
          <p:nvPr/>
        </p:nvSpPr>
        <p:spPr>
          <a:xfrm>
            <a:off x="1325880" y="2752344"/>
            <a:ext cx="4846320" cy="36576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Clauses extracted once, at upload</a:t>
            </a:r>
            <a:endParaRPr lang="en-US" sz="1900" dirty="0"/>
          </a:p>
        </p:txBody>
      </p:sp>
      <p:sp>
        <p:nvSpPr>
          <p:cNvPr id="8" name="Text 6"/>
          <p:cNvSpPr txBox="1"/>
          <p:nvPr/>
        </p:nvSpPr>
        <p:spPr>
          <a:xfrm>
            <a:off x="1325880" y="3154680"/>
            <a:ext cx="4846320" cy="36576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The words on screen are the words in the PDF.</a:t>
            </a:r>
            <a:endParaRPr lang="en-US" sz="1500" dirty="0"/>
          </a:p>
        </p:txBody>
      </p:sp>
      <p:sp>
        <p:nvSpPr>
          <p:cNvPr id="9" name="Shape 7"/>
          <p:cNvSpPr/>
          <p:nvPr/>
        </p:nvSpPr>
        <p:spPr>
          <a:xfrm>
            <a:off x="548640" y="3977640"/>
            <a:ext cx="548640" cy="548640"/>
          </a:xfrm>
          <a:prstGeom prst="roundRect">
            <a:avLst>
              <a:gd name="adj" fmla="val 20000"/>
            </a:avLst>
          </a:prstGeom>
          <a:solidFill>
            <a:srgbClr val="1B2336"/>
          </a:solidFill>
          <a:ln w="12700">
            <a:solidFill>
              <a:srgbClr val="818CF8"/>
            </a:solidFill>
            <a:prstDash val="solid"/>
          </a:ln>
        </p:spPr>
        <p:txBody>
          <a:bodyPr/>
          <a:p/>
        </p:txBody>
      </p:sp>
      <p:sp>
        <p:nvSpPr>
          <p:cNvPr id="10" name="Text 8"/>
          <p:cNvSpPr txBox="1"/>
          <p:nvPr/>
        </p:nvSpPr>
        <p:spPr>
          <a:xfrm>
            <a:off x="548640" y="3977640"/>
            <a:ext cx="548640" cy="548640"/>
          </a:xfrm>
          <a:prstGeom prst="rect">
            <a:avLst/>
          </a:prstGeom>
          <a:noFill/>
          <a:ln/>
        </p:spPr>
        <p:txBody>
          <a:bodyPr wrap="square" lIns="0" tIns="0" rIns="0" bIns="0" rtlCol="0" anchor="ctr"/>
          <a:lstStyle/>
          <a:p>
            <a:pPr algn="ctr" indent="0" marL="0">
              <a:buNone/>
            </a:pPr>
            <a:r>
              <a:rPr lang="en-US" sz="2000" b="1" dirty="0">
                <a:solidFill>
                  <a:srgbClr val="818CF8"/>
                </a:solidFill>
                <a:latin typeface="Consolas" pitchFamily="34" charset="0"/>
                <a:ea typeface="Consolas" pitchFamily="34" charset="-122"/>
                <a:cs typeface="Consolas" pitchFamily="34" charset="-120"/>
              </a:rPr>
              <a:t>K</a:t>
            </a:r>
            <a:endParaRPr lang="en-US" sz="2000" dirty="0"/>
          </a:p>
        </p:txBody>
      </p:sp>
      <p:sp>
        <p:nvSpPr>
          <p:cNvPr id="11" name="Text 9"/>
          <p:cNvSpPr txBox="1"/>
          <p:nvPr/>
        </p:nvSpPr>
        <p:spPr>
          <a:xfrm>
            <a:off x="1325880" y="3941064"/>
            <a:ext cx="4846320" cy="36576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Clause language seeds STT keyterms</a:t>
            </a:r>
            <a:endParaRPr lang="en-US" sz="1900" dirty="0"/>
          </a:p>
        </p:txBody>
      </p:sp>
      <p:sp>
        <p:nvSpPr>
          <p:cNvPr id="12" name="Text 10"/>
          <p:cNvSpPr txBox="1"/>
          <p:nvPr/>
        </p:nvSpPr>
        <p:spPr>
          <a:xfrm>
            <a:off x="1325880" y="4343400"/>
            <a:ext cx="4846320" cy="36576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Contract-specific terms transcribe more reliably.</a:t>
            </a:r>
            <a:endParaRPr lang="en-US" sz="1500" dirty="0"/>
          </a:p>
        </p:txBody>
      </p:sp>
      <p:sp>
        <p:nvSpPr>
          <p:cNvPr id="13" name="Shape 11"/>
          <p:cNvSpPr/>
          <p:nvPr/>
        </p:nvSpPr>
        <p:spPr>
          <a:xfrm>
            <a:off x="548640" y="5166360"/>
            <a:ext cx="548640" cy="548640"/>
          </a:xfrm>
          <a:prstGeom prst="roundRect">
            <a:avLst>
              <a:gd name="adj" fmla="val 20000"/>
            </a:avLst>
          </a:prstGeom>
          <a:solidFill>
            <a:srgbClr val="1B2336"/>
          </a:solidFill>
          <a:ln w="12700">
            <a:solidFill>
              <a:srgbClr val="818CF8"/>
            </a:solidFill>
            <a:prstDash val="solid"/>
          </a:ln>
        </p:spPr>
        <p:txBody>
          <a:bodyPr/>
          <a:p/>
        </p:txBody>
      </p:sp>
      <p:sp>
        <p:nvSpPr>
          <p:cNvPr id="14" name="Text 12"/>
          <p:cNvSpPr txBox="1"/>
          <p:nvPr/>
        </p:nvSpPr>
        <p:spPr>
          <a:xfrm>
            <a:off x="548640" y="5166360"/>
            <a:ext cx="548640" cy="548640"/>
          </a:xfrm>
          <a:prstGeom prst="rect">
            <a:avLst/>
          </a:prstGeom>
          <a:noFill/>
          <a:ln/>
        </p:spPr>
        <p:txBody>
          <a:bodyPr wrap="square" lIns="0" tIns="0" rIns="0" bIns="0" rtlCol="0" anchor="ctr"/>
          <a:lstStyle/>
          <a:p>
            <a:pPr algn="ctr" indent="0" marL="0">
              <a:buNone/>
            </a:pPr>
            <a:r>
              <a:rPr lang="en-US" sz="2000" b="1" dirty="0">
                <a:solidFill>
                  <a:srgbClr val="818CF8"/>
                </a:solidFill>
                <a:latin typeface="Consolas" pitchFamily="34" charset="0"/>
                <a:ea typeface="Consolas" pitchFamily="34" charset="-122"/>
                <a:cs typeface="Consolas" pitchFamily="34" charset="-120"/>
              </a:rPr>
              <a:t>✓</a:t>
            </a:r>
            <a:endParaRPr lang="en-US" sz="2000" dirty="0"/>
          </a:p>
        </p:txBody>
      </p:sp>
      <p:sp>
        <p:nvSpPr>
          <p:cNvPr id="15" name="Text 13"/>
          <p:cNvSpPr txBox="1"/>
          <p:nvPr/>
        </p:nvSpPr>
        <p:spPr>
          <a:xfrm>
            <a:off x="1325880" y="5129784"/>
            <a:ext cx="4846320" cy="36576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Consent confirmed before listening</a:t>
            </a:r>
            <a:endParaRPr lang="en-US" sz="1900" dirty="0"/>
          </a:p>
        </p:txBody>
      </p:sp>
      <p:sp>
        <p:nvSpPr>
          <p:cNvPr id="16" name="Text 14"/>
          <p:cNvSpPr txBox="1"/>
          <p:nvPr/>
        </p:nvSpPr>
        <p:spPr>
          <a:xfrm>
            <a:off x="1325880" y="5532120"/>
            <a:ext cx="4846320" cy="36576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The call can't start until disclosure is checked.</a:t>
            </a:r>
            <a:endParaRPr lang="en-US" sz="1500" dirty="0"/>
          </a:p>
        </p:txBody>
      </p:sp>
      <p:sp>
        <p:nvSpPr>
          <p:cNvPr id="17" name="Shape 15"/>
          <p:cNvSpPr/>
          <p:nvPr/>
        </p:nvSpPr>
        <p:spPr>
          <a:xfrm>
            <a:off x="6867895" y="832104"/>
            <a:ext cx="4445976" cy="5559552"/>
          </a:xfrm>
          <a:prstGeom prst="roundRect">
            <a:avLst>
              <a:gd name="adj" fmla="val 2057"/>
            </a:avLst>
          </a:prstGeom>
          <a:solidFill>
            <a:srgbClr val="0A1120"/>
          </a:solidFill>
          <a:ln w="12700">
            <a:solidFill>
              <a:srgbClr val="475569"/>
            </a:solidFill>
            <a:prstDash val="solid"/>
          </a:ln>
          <a:effectLst>
            <a:outerShdw sx="100000" sy="100000" kx="0" ky="0" algn="bl" rotWithShape="0" blurRad="381000" dist="101600" dir="5400000">
              <a:srgbClr val="000000">
                <a:alpha val="50000"/>
              </a:srgbClr>
            </a:outerShdw>
          </a:effectLst>
        </p:spPr>
        <p:txBody>
          <a:bodyPr/>
          <a:p/>
        </p:txBody>
      </p:sp>
      <p:pic>
        <p:nvPicPr>
          <p:cNvPr id="18" name="Image 0" descr="ClauseCatcher setup: four clauses extracted from demo-contract.pdf, quoted exactly as written">    </p:cNvPr>
          <p:cNvPicPr>
            <a:picLocks noChangeAspect="1"/>
          </p:cNvPicPr>
          <p:nvPr/>
        </p:nvPicPr>
        <p:blipFill>
          <a:blip r:embed="rId1"/>
          <a:stretch>
            <a:fillRect/>
          </a:stretch>
        </p:blipFill>
        <p:spPr>
          <a:xfrm>
            <a:off x="6904471" y="868680"/>
            <a:ext cx="4372824" cy="548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ARCHITECTURE</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06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Two AssemblyAI connections, one job each</a:t>
            </a:r>
            <a:endParaRPr lang="en-US" sz="3600" dirty="0"/>
          </a:p>
        </p:txBody>
      </p:sp>
      <p:sp>
        <p:nvSpPr>
          <p:cNvPr id="5" name="Shape 3"/>
          <p:cNvSpPr/>
          <p:nvPr/>
        </p:nvSpPr>
        <p:spPr>
          <a:xfrm>
            <a:off x="548640" y="2011680"/>
            <a:ext cx="1911645" cy="1417320"/>
          </a:xfrm>
          <a:prstGeom prst="roundRect">
            <a:avLst>
              <a:gd name="adj" fmla="val 9032"/>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6" name="Text 4"/>
          <p:cNvSpPr txBox="1"/>
          <p:nvPr/>
        </p:nvSpPr>
        <p:spPr>
          <a:xfrm>
            <a:off x="713232" y="2468880"/>
            <a:ext cx="1637325" cy="411480"/>
          </a:xfrm>
          <a:prstGeom prst="rect">
            <a:avLst/>
          </a:prstGeom>
          <a:noFill/>
          <a:ln/>
        </p:spPr>
        <p:txBody>
          <a:bodyPr wrap="square" lIns="0" tIns="0" rIns="0" bIns="0" rtlCol="0" anchor="t"/>
          <a:lstStyle/>
          <a:p>
            <a:pPr indent="0" marL="0">
              <a:buNone/>
            </a:pPr>
            <a:r>
              <a:rPr lang="en-US" sz="1500" b="1" dirty="0">
                <a:solidFill>
                  <a:srgbClr val="F8FAFC"/>
                </a:solidFill>
                <a:latin typeface="Arial" pitchFamily="34" charset="0"/>
                <a:ea typeface="Arial" pitchFamily="34" charset="-122"/>
                <a:cs typeface="Arial" pitchFamily="34" charset="-120"/>
              </a:rPr>
              <a:t>Rep mic</a:t>
            </a:r>
            <a:endParaRPr lang="en-US" sz="1500" dirty="0"/>
          </a:p>
        </p:txBody>
      </p:sp>
      <p:sp>
        <p:nvSpPr>
          <p:cNvPr id="7" name="Text 5"/>
          <p:cNvSpPr txBox="1"/>
          <p:nvPr/>
        </p:nvSpPr>
        <p:spPr>
          <a:xfrm>
            <a:off x="731520" y="2880360"/>
            <a:ext cx="1545885" cy="457200"/>
          </a:xfrm>
          <a:prstGeom prst="rect">
            <a:avLst/>
          </a:prstGeom>
          <a:noFill/>
          <a:ln/>
        </p:spPr>
        <p:txBody>
          <a:bodyPr wrap="square" lIns="0" tIns="0" rIns="0" bIns="0" rtlCol="0" anchor="t"/>
          <a:lstStyle/>
          <a:p>
            <a:pPr indent="0" marL="0">
              <a:buNone/>
            </a:pPr>
            <a:r>
              <a:rPr lang="en-US" sz="1200" dirty="0">
                <a:solidFill>
                  <a:srgbClr val="CBD5E1"/>
                </a:solidFill>
                <a:latin typeface="Consolas" pitchFamily="34" charset="0"/>
                <a:ea typeface="Consolas" pitchFamily="34" charset="-122"/>
                <a:cs typeface="Consolas" pitchFamily="34" charset="-120"/>
              </a:rPr>
              <a:t>PCM16 audio</a:t>
            </a:r>
            <a:endParaRPr lang="en-US" sz="1200" dirty="0"/>
          </a:p>
        </p:txBody>
      </p:sp>
      <p:sp>
        <p:nvSpPr>
          <p:cNvPr id="8" name="Text 6"/>
          <p:cNvSpPr txBox="1"/>
          <p:nvPr/>
        </p:nvSpPr>
        <p:spPr>
          <a:xfrm>
            <a:off x="2460285" y="2468880"/>
            <a:ext cx="384048"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2844333" y="2011680"/>
            <a:ext cx="1911645" cy="1417320"/>
          </a:xfrm>
          <a:prstGeom prst="roundRect">
            <a:avLst>
              <a:gd name="adj" fmla="val 9032"/>
            </a:avLst>
          </a:prstGeom>
          <a:solidFill>
            <a:srgbClr val="0E2A36"/>
          </a:solidFill>
          <a:ln w="19050">
            <a:solidFill>
              <a:srgbClr val="22D3EE"/>
            </a:solidFill>
            <a:prstDash val="solid"/>
          </a:ln>
          <a:effectLst>
            <a:outerShdw sx="100000" sy="100000" kx="0" ky="0" algn="bl" rotWithShape="0" blurRad="228600" dist="50800" dir="5400000">
              <a:srgbClr val="000000">
                <a:alpha val="35000"/>
              </a:srgbClr>
            </a:outerShdw>
          </a:effectLst>
        </p:spPr>
        <p:txBody>
          <a:bodyPr/>
          <a:p/>
        </p:txBody>
      </p:sp>
      <p:sp>
        <p:nvSpPr>
          <p:cNvPr id="10" name="Text 8"/>
          <p:cNvSpPr txBox="1"/>
          <p:nvPr/>
        </p:nvSpPr>
        <p:spPr>
          <a:xfrm>
            <a:off x="3027213" y="2194560"/>
            <a:ext cx="1545885" cy="228600"/>
          </a:xfrm>
          <a:prstGeom prst="rect">
            <a:avLst/>
          </a:prstGeom>
          <a:noFill/>
          <a:ln/>
        </p:spPr>
        <p:txBody>
          <a:bodyPr wrap="square" lIns="0" tIns="0" rIns="0" bIns="0" rtlCol="0" anchor="t"/>
          <a:lstStyle/>
          <a:p>
            <a:pPr indent="0" marL="0">
              <a:buNone/>
            </a:pPr>
            <a:r>
              <a:rPr lang="en-US" sz="1000" b="1" spc="100" kern="0" dirty="0">
                <a:solidFill>
                  <a:srgbClr val="22D3EE"/>
                </a:solidFill>
                <a:latin typeface="Consolas" pitchFamily="34" charset="0"/>
                <a:ea typeface="Consolas" pitchFamily="34" charset="-122"/>
                <a:cs typeface="Consolas" pitchFamily="34" charset="-120"/>
              </a:rPr>
              <a:t>ASSEMBLYAI</a:t>
            </a:r>
            <a:endParaRPr lang="en-US" sz="1000" dirty="0"/>
          </a:p>
        </p:txBody>
      </p:sp>
      <p:sp>
        <p:nvSpPr>
          <p:cNvPr id="11" name="Text 9"/>
          <p:cNvSpPr txBox="1"/>
          <p:nvPr/>
        </p:nvSpPr>
        <p:spPr>
          <a:xfrm>
            <a:off x="3008925" y="2468880"/>
            <a:ext cx="1637325" cy="411480"/>
          </a:xfrm>
          <a:prstGeom prst="rect">
            <a:avLst/>
          </a:prstGeom>
          <a:noFill/>
          <a:ln/>
        </p:spPr>
        <p:txBody>
          <a:bodyPr wrap="square" lIns="0" tIns="0" rIns="0" bIns="0" rtlCol="0" anchor="t"/>
          <a:lstStyle/>
          <a:p>
            <a:pPr indent="0" marL="0">
              <a:buNone/>
            </a:pPr>
            <a:r>
              <a:rPr lang="en-US" sz="1500" b="1" dirty="0">
                <a:solidFill>
                  <a:srgbClr val="F8FAFC"/>
                </a:solidFill>
                <a:latin typeface="Arial" pitchFamily="34" charset="0"/>
                <a:ea typeface="Arial" pitchFamily="34" charset="-122"/>
                <a:cs typeface="Arial" pitchFamily="34" charset="-120"/>
              </a:rPr>
              <a:t>Streaming STT v3</a:t>
            </a:r>
            <a:endParaRPr lang="en-US" sz="1500" dirty="0"/>
          </a:p>
        </p:txBody>
      </p:sp>
      <p:sp>
        <p:nvSpPr>
          <p:cNvPr id="12" name="Text 10"/>
          <p:cNvSpPr txBox="1"/>
          <p:nvPr/>
        </p:nvSpPr>
        <p:spPr>
          <a:xfrm>
            <a:off x="3027213" y="2880360"/>
            <a:ext cx="1545885" cy="457200"/>
          </a:xfrm>
          <a:prstGeom prst="rect">
            <a:avLst/>
          </a:prstGeom>
          <a:noFill/>
          <a:ln/>
        </p:spPr>
        <p:txBody>
          <a:bodyPr wrap="square" lIns="0" tIns="0" rIns="0" bIns="0" rtlCol="0" anchor="t"/>
          <a:lstStyle/>
          <a:p>
            <a:pPr indent="0" marL="0">
              <a:buNone/>
            </a:pPr>
            <a:r>
              <a:rPr lang="en-US" sz="1200" dirty="0">
                <a:solidFill>
                  <a:srgbClr val="CBD5E1"/>
                </a:solidFill>
                <a:latin typeface="Consolas" pitchFamily="34" charset="0"/>
                <a:ea typeface="Consolas" pitchFamily="34" charset="-122"/>
                <a:cs typeface="Consolas" pitchFamily="34" charset="-120"/>
              </a:rPr>
              <a:t>listens, never replies</a:t>
            </a:r>
            <a:endParaRPr lang="en-US" sz="1200" dirty="0"/>
          </a:p>
        </p:txBody>
      </p:sp>
      <p:sp>
        <p:nvSpPr>
          <p:cNvPr id="13" name="Text 11"/>
          <p:cNvSpPr txBox="1"/>
          <p:nvPr/>
        </p:nvSpPr>
        <p:spPr>
          <a:xfrm>
            <a:off x="4755977" y="2468880"/>
            <a:ext cx="384048"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5140025" y="2011680"/>
            <a:ext cx="1911645" cy="1417320"/>
          </a:xfrm>
          <a:prstGeom prst="roundRect">
            <a:avLst>
              <a:gd name="adj" fmla="val 9032"/>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5" name="Text 13"/>
          <p:cNvSpPr txBox="1"/>
          <p:nvPr/>
        </p:nvSpPr>
        <p:spPr>
          <a:xfrm>
            <a:off x="5304617" y="2468880"/>
            <a:ext cx="1637325" cy="411480"/>
          </a:xfrm>
          <a:prstGeom prst="rect">
            <a:avLst/>
          </a:prstGeom>
          <a:noFill/>
          <a:ln/>
        </p:spPr>
        <p:txBody>
          <a:bodyPr wrap="square" lIns="0" tIns="0" rIns="0" bIns="0" rtlCol="0" anchor="t"/>
          <a:lstStyle/>
          <a:p>
            <a:pPr indent="0" marL="0">
              <a:buNone/>
            </a:pPr>
            <a:r>
              <a:rPr lang="en-US" sz="1500" b="1" dirty="0">
                <a:solidFill>
                  <a:srgbClr val="F8FAFC"/>
                </a:solidFill>
                <a:latin typeface="Arial" pitchFamily="34" charset="0"/>
                <a:ea typeface="Arial" pitchFamily="34" charset="-122"/>
                <a:cs typeface="Arial" pitchFamily="34" charset="-120"/>
              </a:rPr>
              <a:t>Gemini check</a:t>
            </a:r>
            <a:endParaRPr lang="en-US" sz="1500" dirty="0"/>
          </a:p>
        </p:txBody>
      </p:sp>
      <p:sp>
        <p:nvSpPr>
          <p:cNvPr id="16" name="Text 14"/>
          <p:cNvSpPr txBox="1"/>
          <p:nvPr/>
        </p:nvSpPr>
        <p:spPr>
          <a:xfrm>
            <a:off x="5322905" y="2880360"/>
            <a:ext cx="1545885" cy="457200"/>
          </a:xfrm>
          <a:prstGeom prst="rect">
            <a:avLst/>
          </a:prstGeom>
          <a:noFill/>
          <a:ln/>
        </p:spPr>
        <p:txBody>
          <a:bodyPr wrap="square" lIns="0" tIns="0" rIns="0" bIns="0" rtlCol="0" anchor="t"/>
          <a:lstStyle/>
          <a:p>
            <a:pPr indent="0" marL="0">
              <a:buNone/>
            </a:pPr>
            <a:r>
              <a:rPr lang="en-US" sz="1200" dirty="0">
                <a:solidFill>
                  <a:srgbClr val="CBD5E1"/>
                </a:solidFill>
                <a:latin typeface="Consolas" pitchFamily="34" charset="0"/>
                <a:ea typeface="Consolas" pitchFamily="34" charset="-122"/>
                <a:cs typeface="Consolas" pitchFamily="34" charset="-120"/>
              </a:rPr>
              <a:t>returns clause ID only</a:t>
            </a:r>
            <a:endParaRPr lang="en-US" sz="1200" dirty="0"/>
          </a:p>
        </p:txBody>
      </p:sp>
      <p:sp>
        <p:nvSpPr>
          <p:cNvPr id="17" name="Text 15"/>
          <p:cNvSpPr txBox="1"/>
          <p:nvPr/>
        </p:nvSpPr>
        <p:spPr>
          <a:xfrm>
            <a:off x="7051670" y="2468880"/>
            <a:ext cx="384048"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7435718" y="2011680"/>
            <a:ext cx="1911645" cy="1417320"/>
          </a:xfrm>
          <a:prstGeom prst="roundRect">
            <a:avLst>
              <a:gd name="adj" fmla="val 9032"/>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9" name="Text 17"/>
          <p:cNvSpPr txBox="1"/>
          <p:nvPr/>
        </p:nvSpPr>
        <p:spPr>
          <a:xfrm>
            <a:off x="7600310" y="2468880"/>
            <a:ext cx="1637325" cy="411480"/>
          </a:xfrm>
          <a:prstGeom prst="rect">
            <a:avLst/>
          </a:prstGeom>
          <a:noFill/>
          <a:ln/>
        </p:spPr>
        <p:txBody>
          <a:bodyPr wrap="square" lIns="0" tIns="0" rIns="0" bIns="0" rtlCol="0" anchor="t"/>
          <a:lstStyle/>
          <a:p>
            <a:pPr indent="0" marL="0">
              <a:buNone/>
            </a:pPr>
            <a:r>
              <a:rPr lang="en-US" sz="1500" b="1" dirty="0">
                <a:solidFill>
                  <a:srgbClr val="F8FAFC"/>
                </a:solidFill>
                <a:latin typeface="Arial" pitchFamily="34" charset="0"/>
                <a:ea typeface="Arial" pitchFamily="34" charset="-122"/>
                <a:cs typeface="Arial" pitchFamily="34" charset="-120"/>
              </a:rPr>
              <a:t>FastAPI server</a:t>
            </a:r>
            <a:endParaRPr lang="en-US" sz="1500" dirty="0"/>
          </a:p>
        </p:txBody>
      </p:sp>
      <p:sp>
        <p:nvSpPr>
          <p:cNvPr id="20" name="Text 18"/>
          <p:cNvSpPr txBox="1"/>
          <p:nvPr/>
        </p:nvSpPr>
        <p:spPr>
          <a:xfrm>
            <a:off x="7618598" y="2880360"/>
            <a:ext cx="1545885" cy="457200"/>
          </a:xfrm>
          <a:prstGeom prst="rect">
            <a:avLst/>
          </a:prstGeom>
          <a:noFill/>
          <a:ln/>
        </p:spPr>
        <p:txBody>
          <a:bodyPr wrap="square" lIns="0" tIns="0" rIns="0" bIns="0" rtlCol="0" anchor="t"/>
          <a:lstStyle/>
          <a:p>
            <a:pPr indent="0" marL="0">
              <a:buNone/>
            </a:pPr>
            <a:r>
              <a:rPr lang="en-US" sz="1200" dirty="0">
                <a:solidFill>
                  <a:srgbClr val="CBD5E1"/>
                </a:solidFill>
                <a:latin typeface="Consolas" pitchFamily="34" charset="0"/>
                <a:ea typeface="Consolas" pitchFamily="34" charset="-122"/>
                <a:cs typeface="Consolas" pitchFamily="34" charset="-120"/>
              </a:rPr>
              <a:t>looks up literal text</a:t>
            </a:r>
            <a:endParaRPr lang="en-US" sz="1200" dirty="0"/>
          </a:p>
        </p:txBody>
      </p:sp>
      <p:sp>
        <p:nvSpPr>
          <p:cNvPr id="21" name="Text 19"/>
          <p:cNvSpPr txBox="1"/>
          <p:nvPr/>
        </p:nvSpPr>
        <p:spPr>
          <a:xfrm>
            <a:off x="9347363" y="2468880"/>
            <a:ext cx="384048" cy="457200"/>
          </a:xfrm>
          <a:prstGeom prst="rect">
            <a:avLst/>
          </a:prstGeom>
          <a:noFill/>
          <a:ln/>
        </p:spPr>
        <p:txBody>
          <a:bodyPr wrap="square" lIns="0" tIns="0" rIns="0" bIns="0" rtlCol="0" anchor="t"/>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9731411" y="2011680"/>
            <a:ext cx="1911645" cy="1417320"/>
          </a:xfrm>
          <a:prstGeom prst="roundRect">
            <a:avLst>
              <a:gd name="adj" fmla="val 9032"/>
            </a:avLst>
          </a:prstGeom>
          <a:solidFill>
            <a:srgbClr val="0E2A36"/>
          </a:solidFill>
          <a:ln w="19050">
            <a:solidFill>
              <a:srgbClr val="22D3EE"/>
            </a:solidFill>
            <a:prstDash val="solid"/>
          </a:ln>
          <a:effectLst>
            <a:outerShdw sx="100000" sy="100000" kx="0" ky="0" algn="bl" rotWithShape="0" blurRad="228600" dist="50800" dir="5400000">
              <a:srgbClr val="000000">
                <a:alpha val="35000"/>
              </a:srgbClr>
            </a:outerShdw>
          </a:effectLst>
        </p:spPr>
        <p:txBody>
          <a:bodyPr/>
          <a:p/>
        </p:txBody>
      </p:sp>
      <p:sp>
        <p:nvSpPr>
          <p:cNvPr id="23" name="Text 21"/>
          <p:cNvSpPr txBox="1"/>
          <p:nvPr/>
        </p:nvSpPr>
        <p:spPr>
          <a:xfrm>
            <a:off x="9914291" y="2194560"/>
            <a:ext cx="1545885" cy="228600"/>
          </a:xfrm>
          <a:prstGeom prst="rect">
            <a:avLst/>
          </a:prstGeom>
          <a:noFill/>
          <a:ln/>
        </p:spPr>
        <p:txBody>
          <a:bodyPr wrap="square" lIns="0" tIns="0" rIns="0" bIns="0" rtlCol="0" anchor="t"/>
          <a:lstStyle/>
          <a:p>
            <a:pPr indent="0" marL="0">
              <a:buNone/>
            </a:pPr>
            <a:r>
              <a:rPr lang="en-US" sz="1000" b="1" spc="100" kern="0" dirty="0">
                <a:solidFill>
                  <a:srgbClr val="22D3EE"/>
                </a:solidFill>
                <a:latin typeface="Consolas" pitchFamily="34" charset="0"/>
                <a:ea typeface="Consolas" pitchFamily="34" charset="-122"/>
                <a:cs typeface="Consolas" pitchFamily="34" charset="-120"/>
              </a:rPr>
              <a:t>ASSEMBLYAI</a:t>
            </a:r>
            <a:endParaRPr lang="en-US" sz="1000" dirty="0"/>
          </a:p>
        </p:txBody>
      </p:sp>
      <p:sp>
        <p:nvSpPr>
          <p:cNvPr id="24" name="Text 22"/>
          <p:cNvSpPr txBox="1"/>
          <p:nvPr/>
        </p:nvSpPr>
        <p:spPr>
          <a:xfrm>
            <a:off x="9896003" y="2468880"/>
            <a:ext cx="1637325" cy="411480"/>
          </a:xfrm>
          <a:prstGeom prst="rect">
            <a:avLst/>
          </a:prstGeom>
          <a:noFill/>
          <a:ln/>
        </p:spPr>
        <p:txBody>
          <a:bodyPr wrap="square" lIns="0" tIns="0" rIns="0" bIns="0" rtlCol="0" anchor="t"/>
          <a:lstStyle/>
          <a:p>
            <a:pPr indent="0" marL="0">
              <a:buNone/>
            </a:pPr>
            <a:r>
              <a:rPr lang="en-US" sz="1500" b="1" dirty="0">
                <a:solidFill>
                  <a:srgbClr val="F8FAFC"/>
                </a:solidFill>
                <a:latin typeface="Arial" pitchFamily="34" charset="0"/>
                <a:ea typeface="Arial" pitchFamily="34" charset="-122"/>
                <a:cs typeface="Arial" pitchFamily="34" charset="-120"/>
              </a:rPr>
              <a:t>Voice Agent</a:t>
            </a:r>
            <a:endParaRPr lang="en-US" sz="1500" dirty="0"/>
          </a:p>
        </p:txBody>
      </p:sp>
      <p:sp>
        <p:nvSpPr>
          <p:cNvPr id="25" name="Text 23"/>
          <p:cNvSpPr txBox="1"/>
          <p:nvPr/>
        </p:nvSpPr>
        <p:spPr>
          <a:xfrm>
            <a:off x="9914291" y="2880360"/>
            <a:ext cx="1545885" cy="457200"/>
          </a:xfrm>
          <a:prstGeom prst="rect">
            <a:avLst/>
          </a:prstGeom>
          <a:noFill/>
          <a:ln/>
        </p:spPr>
        <p:txBody>
          <a:bodyPr wrap="square" lIns="0" tIns="0" rIns="0" bIns="0" rtlCol="0" anchor="t"/>
          <a:lstStyle/>
          <a:p>
            <a:pPr indent="0" marL="0">
              <a:buNone/>
            </a:pPr>
            <a:r>
              <a:rPr lang="en-US" sz="1200" dirty="0">
                <a:solidFill>
                  <a:srgbClr val="CBD5E1"/>
                </a:solidFill>
                <a:latin typeface="Consolas" pitchFamily="34" charset="0"/>
                <a:ea typeface="Consolas" pitchFamily="34" charset="-122"/>
                <a:cs typeface="Consolas" pitchFamily="34" charset="-120"/>
              </a:rPr>
              <a:t>reply.create, say exactly</a:t>
            </a:r>
            <a:endParaRPr lang="en-US" sz="1200" dirty="0"/>
          </a:p>
        </p:txBody>
      </p:sp>
      <p:sp>
        <p:nvSpPr>
          <p:cNvPr id="26" name="Text 24"/>
          <p:cNvSpPr txBox="1"/>
          <p:nvPr/>
        </p:nvSpPr>
        <p:spPr>
          <a:xfrm>
            <a:off x="5140025" y="3474720"/>
            <a:ext cx="4207337" cy="365760"/>
          </a:xfrm>
          <a:prstGeom prst="rect">
            <a:avLst/>
          </a:prstGeom>
          <a:noFill/>
          <a:ln/>
        </p:spPr>
        <p:txBody>
          <a:bodyPr wrap="square" lIns="0" tIns="0" rIns="0" bIns="0" rtlCol="0" anchor="t"/>
          <a:lstStyle/>
          <a:p>
            <a:pPr algn="ctr" indent="0" marL="0">
              <a:buNone/>
            </a:pPr>
            <a:r>
              <a:rPr lang="en-US" sz="2000" dirty="0">
                <a:solidFill>
                  <a:srgbClr val="94A3B8"/>
                </a:solidFill>
                <a:latin typeface="Arial" pitchFamily="34" charset="0"/>
                <a:ea typeface="Arial" pitchFamily="34" charset="-122"/>
                <a:cs typeface="Arial" pitchFamily="34" charset="-120"/>
              </a:rPr>
              <a:t>↑</a:t>
            </a:r>
            <a:endParaRPr lang="en-US" sz="2000" dirty="0"/>
          </a:p>
        </p:txBody>
      </p:sp>
      <p:sp>
        <p:nvSpPr>
          <p:cNvPr id="27" name="Shape 25"/>
          <p:cNvSpPr/>
          <p:nvPr/>
        </p:nvSpPr>
        <p:spPr>
          <a:xfrm>
            <a:off x="5140025" y="3886200"/>
            <a:ext cx="4207337" cy="731520"/>
          </a:xfrm>
          <a:prstGeom prst="roundRect">
            <a:avLst>
              <a:gd name="adj" fmla="val 17500"/>
            </a:avLst>
          </a:prstGeom>
          <a:solidFill>
            <a:srgbClr val="0A1120"/>
          </a:solidFill>
          <a:ln w="12700">
            <a:solidFill>
              <a:srgbClr val="334155"/>
            </a:solidFill>
            <a:prstDash val="solid"/>
          </a:ln>
        </p:spPr>
        <p:txBody>
          <a:bodyPr/>
          <a:p/>
        </p:txBody>
      </p:sp>
      <p:sp>
        <p:nvSpPr>
          <p:cNvPr id="28" name="Text 26"/>
          <p:cNvSpPr txBox="1"/>
          <p:nvPr/>
        </p:nvSpPr>
        <p:spPr>
          <a:xfrm>
            <a:off x="5322905" y="3886200"/>
            <a:ext cx="3841577" cy="731520"/>
          </a:xfrm>
          <a:prstGeom prst="rect">
            <a:avLst/>
          </a:prstGeom>
          <a:noFill/>
          <a:ln/>
        </p:spPr>
        <p:txBody>
          <a:bodyPr wrap="square" lIns="0" tIns="0" rIns="0" bIns="0"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Signed contract clauses: the only source of spoken words</a:t>
            </a:r>
            <a:endParaRPr lang="en-US" sz="1200" dirty="0"/>
          </a:p>
        </p:txBody>
      </p:sp>
      <p:sp>
        <p:nvSpPr>
          <p:cNvPr id="29" name="Shape 27"/>
          <p:cNvSpPr/>
          <p:nvPr/>
        </p:nvSpPr>
        <p:spPr>
          <a:xfrm>
            <a:off x="548640" y="5349240"/>
            <a:ext cx="11094415" cy="960120"/>
          </a:xfrm>
          <a:prstGeom prst="roundRect">
            <a:avLst>
              <a:gd name="adj" fmla="val 13333"/>
            </a:avLst>
          </a:prstGeom>
          <a:solidFill>
            <a:srgbClr val="131C31"/>
          </a:solidFill>
          <a:ln w="12700">
            <a:solidFill>
              <a:srgbClr val="334155"/>
            </a:solidFill>
            <a:prstDash val="solid"/>
          </a:ln>
        </p:spPr>
        <p:txBody>
          <a:bodyPr/>
          <a:p/>
        </p:txBody>
      </p:sp>
      <p:sp>
        <p:nvSpPr>
          <p:cNvPr id="30" name="Text 28"/>
          <p:cNvSpPr txBox="1"/>
          <p:nvPr/>
        </p:nvSpPr>
        <p:spPr>
          <a:xfrm>
            <a:off x="868680" y="5349240"/>
            <a:ext cx="10454335" cy="960120"/>
          </a:xfrm>
          <a:prstGeom prst="rect">
            <a:avLst/>
          </a:prstGeom>
          <a:noFill/>
          <a:ln/>
        </p:spPr>
        <p:txBody>
          <a:bodyPr wrap="square" lIns="0" tIns="0" rIns="0" bIns="0" rtlCol="0" anchor="ctr"/>
          <a:lstStyle/>
          <a:p>
            <a:pPr indent="0" marL="0">
              <a:buNone/>
            </a:pPr>
            <a:r>
              <a:rPr lang="en-US" sz="1500" b="1" dirty="0">
                <a:solidFill>
                  <a:srgbClr val="22D3EE"/>
                </a:solidFill>
                <a:latin typeface="Arial" pitchFamily="34" charset="0"/>
                <a:ea typeface="Arial" pitchFamily="34" charset="-122"/>
                <a:cs typeface="Arial" pitchFamily="34" charset="-120"/>
              </a:rPr>
              <a:t>Why split? </a:t>
            </a:r>
            <a:pPr indent="0" marL="0">
              <a:buNone/>
            </a:pPr>
            <a:r>
              <a:rPr lang="en-US" sz="1500" dirty="0">
                <a:solidFill>
                  <a:srgbClr val="CBD5E1"/>
                </a:solidFill>
                <a:latin typeface="Arial" pitchFamily="34" charset="0"/>
                <a:ea typeface="Arial" pitchFamily="34" charset="-122"/>
                <a:cs typeface="Arial" pitchFamily="34" charset="-120"/>
              </a:rPr>
              <a:t>One Voice Agent session doing both jobs was tested live and started replying over the rep, even with a silence prompt. Streaming STT has no reply behavior, so silence is structural, not prompted. (ADR-0001)</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WHY ASSEMBLYAI, SPECIFICALLY</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07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We tested the easy paths. Both failed.</a:t>
            </a:r>
            <a:endParaRPr lang="en-US" sz="3600" dirty="0"/>
          </a:p>
        </p:txBody>
      </p:sp>
      <p:sp>
        <p:nvSpPr>
          <p:cNvPr id="5" name="Shape 3"/>
          <p:cNvSpPr/>
          <p:nvPr/>
        </p:nvSpPr>
        <p:spPr>
          <a:xfrm>
            <a:off x="548640" y="2011680"/>
            <a:ext cx="5364328" cy="3017520"/>
          </a:xfrm>
          <a:prstGeom prst="roundRect">
            <a:avLst>
              <a:gd name="adj" fmla="val 4242"/>
            </a:avLst>
          </a:prstGeom>
          <a:solidFill>
            <a:srgbClr val="1B2336"/>
          </a:solidFill>
          <a:ln w="12700">
            <a:solidFill>
              <a:srgbClr val="7F1D1D"/>
            </a:solidFill>
            <a:prstDash val="solid"/>
          </a:ln>
          <a:effectLst>
            <a:outerShdw sx="100000" sy="100000" kx="0" ky="0" algn="bl" rotWithShape="0" blurRad="228600" dist="50800" dir="5400000">
              <a:srgbClr val="000000">
                <a:alpha val="35000"/>
              </a:srgbClr>
            </a:outerShdw>
          </a:effectLst>
        </p:spPr>
        <p:txBody>
          <a:bodyPr/>
          <a:p/>
        </p:txBody>
      </p:sp>
      <p:sp>
        <p:nvSpPr>
          <p:cNvPr id="6" name="Text 4"/>
          <p:cNvSpPr txBox="1"/>
          <p:nvPr/>
        </p:nvSpPr>
        <p:spPr>
          <a:xfrm>
            <a:off x="914400" y="2286000"/>
            <a:ext cx="4632808" cy="274320"/>
          </a:xfrm>
          <a:prstGeom prst="rect">
            <a:avLst/>
          </a:prstGeom>
          <a:noFill/>
          <a:ln/>
        </p:spPr>
        <p:txBody>
          <a:bodyPr wrap="square" lIns="0" tIns="0" rIns="0" bIns="0" rtlCol="0" anchor="t"/>
          <a:lstStyle/>
          <a:p>
            <a:pPr indent="0" marL="0">
              <a:buNone/>
            </a:pPr>
            <a:r>
              <a:rPr lang="en-US" sz="1300" b="1" spc="200" kern="0" dirty="0">
                <a:solidFill>
                  <a:srgbClr val="FCA5A5"/>
                </a:solidFill>
                <a:latin typeface="Consolas" pitchFamily="34" charset="0"/>
                <a:ea typeface="Consolas" pitchFamily="34" charset="-122"/>
                <a:cs typeface="Consolas" pitchFamily="34" charset="-120"/>
              </a:rPr>
              <a:t>TRIED AND DROPPED</a:t>
            </a:r>
            <a:endParaRPr lang="en-US" sz="1300" dirty="0"/>
          </a:p>
        </p:txBody>
      </p:sp>
      <p:sp>
        <p:nvSpPr>
          <p:cNvPr id="7" name="Text 5"/>
          <p:cNvSpPr txBox="1"/>
          <p:nvPr/>
        </p:nvSpPr>
        <p:spPr>
          <a:xfrm>
            <a:off x="914400" y="2788920"/>
            <a:ext cx="4632808" cy="41148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One Voice Agent session for everything</a:t>
            </a:r>
            <a:endParaRPr lang="en-US" sz="1900" dirty="0"/>
          </a:p>
        </p:txBody>
      </p:sp>
      <p:sp>
        <p:nvSpPr>
          <p:cNvPr id="8" name="Text 6"/>
          <p:cNvSpPr txBox="1"/>
          <p:nvPr/>
        </p:nvSpPr>
        <p:spPr>
          <a:xfrm>
            <a:off x="914400" y="3200400"/>
            <a:ext cx="4632808" cy="457200"/>
          </a:xfrm>
          <a:prstGeom prst="rect">
            <a:avLst/>
          </a:prstGeom>
          <a:noFill/>
          <a:ln/>
        </p:spPr>
        <p:txBody>
          <a:bodyPr wrap="square" lIns="0" tIns="0" rIns="0" bIns="0" rtlCol="0" anchor="t"/>
          <a:lstStyle/>
          <a:p>
            <a:pPr indent="0" marL="0">
              <a:buNone/>
            </a:pPr>
            <a:r>
              <a:rPr lang="en-US" sz="1600" dirty="0">
                <a:solidFill>
                  <a:srgbClr val="CBD5E1"/>
                </a:solidFill>
                <a:latin typeface="Arial" pitchFamily="34" charset="0"/>
                <a:ea typeface="Arial" pitchFamily="34" charset="-122"/>
                <a:cs typeface="Arial" pitchFamily="34" charset="-120"/>
              </a:rPr>
              <a:t>Auto-started 4 replies despite a silence prompt</a:t>
            </a:r>
            <a:endParaRPr lang="en-US" sz="1600" dirty="0"/>
          </a:p>
        </p:txBody>
      </p:sp>
      <p:sp>
        <p:nvSpPr>
          <p:cNvPr id="9" name="Text 7"/>
          <p:cNvSpPr txBox="1"/>
          <p:nvPr/>
        </p:nvSpPr>
        <p:spPr>
          <a:xfrm>
            <a:off x="914400" y="3886200"/>
            <a:ext cx="4632808" cy="41148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Alert injected as a fake user message</a:t>
            </a:r>
            <a:endParaRPr lang="en-US" sz="1900" dirty="0"/>
          </a:p>
        </p:txBody>
      </p:sp>
      <p:sp>
        <p:nvSpPr>
          <p:cNvPr id="10" name="Text 8"/>
          <p:cNvSpPr txBox="1"/>
          <p:nvPr/>
        </p:nvSpPr>
        <p:spPr>
          <a:xfrm>
            <a:off x="914400" y="4297680"/>
            <a:ext cx="4632808" cy="457200"/>
          </a:xfrm>
          <a:prstGeom prst="rect">
            <a:avLst/>
          </a:prstGeom>
          <a:noFill/>
          <a:ln/>
        </p:spPr>
        <p:txBody>
          <a:bodyPr wrap="square" lIns="0" tIns="0" rIns="0" bIns="0" rtlCol="0" anchor="t"/>
          <a:lstStyle/>
          <a:p>
            <a:pPr indent="0" marL="0">
              <a:buNone/>
            </a:pPr>
            <a:r>
              <a:rPr lang="en-US" sz="1600" dirty="0">
                <a:solidFill>
                  <a:srgbClr val="CBD5E1"/>
                </a:solidFill>
                <a:latin typeface="Arial" pitchFamily="34" charset="0"/>
                <a:ea typeface="Arial" pitchFamily="34" charset="-122"/>
                <a:cs typeface="Arial" pitchFamily="34" charset="-120"/>
              </a:rPr>
              <a:t>Agent ignored the injected content</a:t>
            </a:r>
            <a:endParaRPr lang="en-US" sz="1600" dirty="0"/>
          </a:p>
        </p:txBody>
      </p:sp>
      <p:sp>
        <p:nvSpPr>
          <p:cNvPr id="11" name="Shape 9"/>
          <p:cNvSpPr/>
          <p:nvPr/>
        </p:nvSpPr>
        <p:spPr>
          <a:xfrm>
            <a:off x="6278728" y="2011680"/>
            <a:ext cx="5364328" cy="3017520"/>
          </a:xfrm>
          <a:prstGeom prst="roundRect">
            <a:avLst>
              <a:gd name="adj" fmla="val 4242"/>
            </a:avLst>
          </a:prstGeom>
          <a:solidFill>
            <a:srgbClr val="1B2336"/>
          </a:solidFill>
          <a:ln w="12700">
            <a:solidFill>
              <a:srgbClr val="14532D"/>
            </a:solidFill>
            <a:prstDash val="solid"/>
          </a:ln>
          <a:effectLst>
            <a:outerShdw sx="100000" sy="100000" kx="0" ky="0" algn="bl" rotWithShape="0" blurRad="228600" dist="50800" dir="5400000">
              <a:srgbClr val="000000">
                <a:alpha val="35000"/>
              </a:srgbClr>
            </a:outerShdw>
          </a:effectLst>
        </p:spPr>
        <p:txBody>
          <a:bodyPr/>
          <a:p/>
        </p:txBody>
      </p:sp>
      <p:sp>
        <p:nvSpPr>
          <p:cNvPr id="12" name="Text 10"/>
          <p:cNvSpPr txBox="1"/>
          <p:nvPr/>
        </p:nvSpPr>
        <p:spPr>
          <a:xfrm>
            <a:off x="6644488" y="2286000"/>
            <a:ext cx="4632808" cy="274320"/>
          </a:xfrm>
          <a:prstGeom prst="rect">
            <a:avLst/>
          </a:prstGeom>
          <a:noFill/>
          <a:ln/>
        </p:spPr>
        <p:txBody>
          <a:bodyPr wrap="square" lIns="0" tIns="0" rIns="0" bIns="0" rtlCol="0" anchor="t"/>
          <a:lstStyle/>
          <a:p>
            <a:pPr indent="0" marL="0">
              <a:buNone/>
            </a:pPr>
            <a:r>
              <a:rPr lang="en-US" sz="1300" b="1" spc="200" kern="0" dirty="0">
                <a:solidFill>
                  <a:srgbClr val="22C55E"/>
                </a:solidFill>
                <a:latin typeface="Consolas" pitchFamily="34" charset="0"/>
                <a:ea typeface="Consolas" pitchFamily="34" charset="-122"/>
                <a:cs typeface="Consolas" pitchFamily="34" charset="-120"/>
              </a:rPr>
              <a:t>SHIPPED</a:t>
            </a:r>
            <a:endParaRPr lang="en-US" sz="1300" dirty="0"/>
          </a:p>
        </p:txBody>
      </p:sp>
      <p:sp>
        <p:nvSpPr>
          <p:cNvPr id="13" name="Text 11"/>
          <p:cNvSpPr txBox="1"/>
          <p:nvPr/>
        </p:nvSpPr>
        <p:spPr>
          <a:xfrm>
            <a:off x="6644488" y="2788920"/>
            <a:ext cx="4632808" cy="41148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Streaming STT v3 listens all call</a:t>
            </a:r>
            <a:endParaRPr lang="en-US" sz="1900" dirty="0"/>
          </a:p>
        </p:txBody>
      </p:sp>
      <p:sp>
        <p:nvSpPr>
          <p:cNvPr id="14" name="Text 12"/>
          <p:cNvSpPr txBox="1"/>
          <p:nvPr/>
        </p:nvSpPr>
        <p:spPr>
          <a:xfrm>
            <a:off x="6644488" y="3200400"/>
            <a:ext cx="4632808" cy="457200"/>
          </a:xfrm>
          <a:prstGeom prst="rect">
            <a:avLst/>
          </a:prstGeom>
          <a:noFill/>
          <a:ln/>
        </p:spPr>
        <p:txBody>
          <a:bodyPr wrap="square" lIns="0" tIns="0" rIns="0" bIns="0" rtlCol="0" anchor="t"/>
          <a:lstStyle/>
          <a:p>
            <a:pPr indent="0" marL="0">
              <a:buNone/>
            </a:pPr>
            <a:r>
              <a:rPr lang="en-US" sz="1600" dirty="0">
                <a:solidFill>
                  <a:srgbClr val="CBD5E1"/>
                </a:solidFill>
                <a:latin typeface="Arial" pitchFamily="34" charset="0"/>
                <a:ea typeface="Arial" pitchFamily="34" charset="-122"/>
                <a:cs typeface="Arial" pitchFamily="34" charset="-120"/>
              </a:rPr>
              <a:t>Pure transcription: nothing to talk over</a:t>
            </a:r>
            <a:endParaRPr lang="en-US" sz="1600" dirty="0"/>
          </a:p>
        </p:txBody>
      </p:sp>
      <p:sp>
        <p:nvSpPr>
          <p:cNvPr id="15" name="Text 13"/>
          <p:cNvSpPr txBox="1"/>
          <p:nvPr/>
        </p:nvSpPr>
        <p:spPr>
          <a:xfrm>
            <a:off x="6644488" y="3886200"/>
            <a:ext cx="4632808" cy="41148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Voice Agent reply.create: “say exactly”</a:t>
            </a:r>
            <a:endParaRPr lang="en-US" sz="1900" dirty="0"/>
          </a:p>
        </p:txBody>
      </p:sp>
      <p:sp>
        <p:nvSpPr>
          <p:cNvPr id="16" name="Text 14"/>
          <p:cNvSpPr txBox="1"/>
          <p:nvPr/>
        </p:nvSpPr>
        <p:spPr>
          <a:xfrm>
            <a:off x="6644488" y="4297680"/>
            <a:ext cx="4632808" cy="457200"/>
          </a:xfrm>
          <a:prstGeom prst="rect">
            <a:avLst/>
          </a:prstGeom>
          <a:noFill/>
          <a:ln/>
        </p:spPr>
        <p:txBody>
          <a:bodyPr wrap="square" lIns="0" tIns="0" rIns="0" bIns="0" rtlCol="0" anchor="t"/>
          <a:lstStyle/>
          <a:p>
            <a:pPr indent="0" marL="0">
              <a:buNone/>
            </a:pPr>
            <a:r>
              <a:rPr lang="en-US" sz="1600" dirty="0">
                <a:solidFill>
                  <a:srgbClr val="CBD5E1"/>
                </a:solidFill>
                <a:latin typeface="Arial" pitchFamily="34" charset="0"/>
                <a:ea typeface="Arial" pitchFamily="34" charset="-122"/>
                <a:cs typeface="Arial" pitchFamily="34" charset="-120"/>
              </a:rPr>
              <a:t>Spoken alert matched the clause, similarity 1.0</a:t>
            </a:r>
            <a:endParaRPr lang="en-US" sz="1600" dirty="0"/>
          </a:p>
        </p:txBody>
      </p:sp>
      <p:sp>
        <p:nvSpPr>
          <p:cNvPr id="17" name="Shape 15"/>
          <p:cNvSpPr/>
          <p:nvPr/>
        </p:nvSpPr>
        <p:spPr>
          <a:xfrm>
            <a:off x="548640" y="5303520"/>
            <a:ext cx="11094415" cy="1005840"/>
          </a:xfrm>
          <a:prstGeom prst="roundRect">
            <a:avLst>
              <a:gd name="adj" fmla="val 12727"/>
            </a:avLst>
          </a:prstGeom>
          <a:solidFill>
            <a:srgbClr val="131C31"/>
          </a:solidFill>
          <a:ln w="12700">
            <a:solidFill>
              <a:srgbClr val="334155"/>
            </a:solidFill>
            <a:prstDash val="solid"/>
          </a:ln>
        </p:spPr>
        <p:txBody>
          <a:bodyPr/>
          <a:p/>
        </p:txBody>
      </p:sp>
      <p:sp>
        <p:nvSpPr>
          <p:cNvPr id="18" name="Text 16"/>
          <p:cNvSpPr txBox="1"/>
          <p:nvPr/>
        </p:nvSpPr>
        <p:spPr>
          <a:xfrm>
            <a:off x="868680" y="5303520"/>
            <a:ext cx="10454335" cy="1005840"/>
          </a:xfrm>
          <a:prstGeom prst="rect">
            <a:avLst/>
          </a:prstGeom>
          <a:noFill/>
          <a:ln/>
        </p:spPr>
        <p:txBody>
          <a:bodyPr wrap="square" lIns="0" tIns="0" rIns="0" bIns="0" rtlCol="0" anchor="ctr"/>
          <a:lstStyle/>
          <a:p>
            <a:pPr indent="0" marL="0">
              <a:buNone/>
            </a:pPr>
            <a:r>
              <a:rPr lang="en-US" sz="1600" b="1" dirty="0">
                <a:solidFill>
                  <a:srgbClr val="F8FAFC"/>
                </a:solidFill>
                <a:latin typeface="Arial" pitchFamily="34" charset="0"/>
                <a:ea typeface="Arial" pitchFamily="34" charset="-122"/>
                <a:cs typeface="Arial" pitchFamily="34" charset="-120"/>
              </a:rPr>
              <a:t>Both products are load-bearing. </a:t>
            </a:r>
            <a:pPr indent="0" marL="0">
              <a:buNone/>
            </a:pPr>
            <a:r>
              <a:rPr lang="en-US" sz="1600" dirty="0">
                <a:solidFill>
                  <a:srgbClr val="CBD5E1"/>
                </a:solidFill>
                <a:latin typeface="Arial" pitchFamily="34" charset="0"/>
                <a:ea typeface="Arial" pitchFamily="34" charset="-122"/>
                <a:cs typeface="Arial" pitchFamily="34" charset="-120"/>
              </a:rPr>
              <a:t>Cut Streaming STT and there is no transcript to check. Cut the Voice Agent and the alert is a silent card instead of an interruption the rep hears.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SAFETY BY DESIGN</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08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It never puts words in a rep's mouth</a:t>
            </a:r>
            <a:endParaRPr lang="en-US" sz="3600" dirty="0"/>
          </a:p>
        </p:txBody>
      </p:sp>
      <p:sp>
        <p:nvSpPr>
          <p:cNvPr id="5" name="Shape 3"/>
          <p:cNvSpPr/>
          <p:nvPr/>
        </p:nvSpPr>
        <p:spPr>
          <a:xfrm>
            <a:off x="548640" y="2103120"/>
            <a:ext cx="3484778" cy="3383280"/>
          </a:xfrm>
          <a:prstGeom prst="roundRect">
            <a:avLst>
              <a:gd name="adj" fmla="val 378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6" name="Shape 4"/>
          <p:cNvSpPr/>
          <p:nvPr/>
        </p:nvSpPr>
        <p:spPr>
          <a:xfrm>
            <a:off x="914400" y="2514600"/>
            <a:ext cx="777240" cy="777240"/>
          </a:xfrm>
          <a:prstGeom prst="ellipse">
            <a:avLst/>
          </a:prstGeom>
          <a:solidFill>
            <a:srgbClr val="0A1120"/>
          </a:solidFill>
          <a:ln w="19050">
            <a:solidFill>
              <a:srgbClr val="22D3EE"/>
            </a:solidFill>
            <a:prstDash val="solid"/>
          </a:ln>
        </p:spPr>
        <p:txBody>
          <a:bodyPr/>
          <a:p/>
        </p:txBody>
      </p:sp>
      <p:sp>
        <p:nvSpPr>
          <p:cNvPr id="7" name="Text 5"/>
          <p:cNvSpPr txBox="1"/>
          <p:nvPr/>
        </p:nvSpPr>
        <p:spPr>
          <a:xfrm>
            <a:off x="914400" y="2514600"/>
            <a:ext cx="777240" cy="777240"/>
          </a:xfrm>
          <a:prstGeom prst="rect">
            <a:avLst/>
          </a:prstGeom>
          <a:noFill/>
          <a:ln/>
        </p:spPr>
        <p:txBody>
          <a:bodyPr wrap="square" lIns="0" tIns="0" rIns="0" bIns="0" rtlCol="0" anchor="ctr"/>
          <a:lstStyle/>
          <a:p>
            <a:pPr algn="ctr" indent="0" marL="0">
              <a:buNone/>
            </a:pPr>
            <a:r>
              <a:rPr lang="en-US" sz="2600" b="1" dirty="0">
                <a:solidFill>
                  <a:srgbClr val="22D3EE"/>
                </a:solidFill>
                <a:latin typeface="Consolas" pitchFamily="34" charset="0"/>
                <a:ea typeface="Consolas" pitchFamily="34" charset="-122"/>
                <a:cs typeface="Consolas" pitchFamily="34" charset="-120"/>
              </a:rPr>
              <a:t>§</a:t>
            </a:r>
            <a:endParaRPr lang="en-US" sz="2600" dirty="0"/>
          </a:p>
        </p:txBody>
      </p:sp>
      <p:sp>
        <p:nvSpPr>
          <p:cNvPr id="8" name="Text 6"/>
          <p:cNvSpPr txBox="1"/>
          <p:nvPr/>
        </p:nvSpPr>
        <p:spPr>
          <a:xfrm>
            <a:off x="914400" y="3566160"/>
            <a:ext cx="2753258" cy="45720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Literal clause text only</a:t>
            </a:r>
            <a:endParaRPr lang="en-US" sz="1900" dirty="0"/>
          </a:p>
        </p:txBody>
      </p:sp>
      <p:sp>
        <p:nvSpPr>
          <p:cNvPr id="9" name="Text 7"/>
          <p:cNvSpPr txBox="1"/>
          <p:nvPr/>
        </p:nvSpPr>
        <p:spPr>
          <a:xfrm>
            <a:off x="914400" y="416052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Everything spoken or shown comes from the uploaded contract. The LLM only picks which clause applies.</a:t>
            </a:r>
            <a:endParaRPr lang="en-US" sz="1600" dirty="0"/>
          </a:p>
        </p:txBody>
      </p:sp>
      <p:sp>
        <p:nvSpPr>
          <p:cNvPr id="10" name="Shape 8"/>
          <p:cNvSpPr/>
          <p:nvPr/>
        </p:nvSpPr>
        <p:spPr>
          <a:xfrm>
            <a:off x="4353458" y="2103120"/>
            <a:ext cx="3484778" cy="3383280"/>
          </a:xfrm>
          <a:prstGeom prst="roundRect">
            <a:avLst>
              <a:gd name="adj" fmla="val 378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1" name="Shape 9"/>
          <p:cNvSpPr/>
          <p:nvPr/>
        </p:nvSpPr>
        <p:spPr>
          <a:xfrm>
            <a:off x="4719218" y="2514600"/>
            <a:ext cx="777240" cy="777240"/>
          </a:xfrm>
          <a:prstGeom prst="ellipse">
            <a:avLst/>
          </a:prstGeom>
          <a:solidFill>
            <a:srgbClr val="0A1120"/>
          </a:solidFill>
          <a:ln w="19050">
            <a:solidFill>
              <a:srgbClr val="818CF8"/>
            </a:solidFill>
            <a:prstDash val="solid"/>
          </a:ln>
        </p:spPr>
        <p:txBody>
          <a:bodyPr/>
          <a:p/>
        </p:txBody>
      </p:sp>
      <p:sp>
        <p:nvSpPr>
          <p:cNvPr id="12" name="Text 10"/>
          <p:cNvSpPr txBox="1"/>
          <p:nvPr/>
        </p:nvSpPr>
        <p:spPr>
          <a:xfrm>
            <a:off x="4719218" y="2514600"/>
            <a:ext cx="777240" cy="777240"/>
          </a:xfrm>
          <a:prstGeom prst="rect">
            <a:avLst/>
          </a:prstGeom>
          <a:noFill/>
          <a:ln/>
        </p:spPr>
        <p:txBody>
          <a:bodyPr wrap="square" lIns="0" tIns="0" rIns="0" bIns="0" rtlCol="0" anchor="ctr"/>
          <a:lstStyle/>
          <a:p>
            <a:pPr algn="ctr" indent="0" marL="0">
              <a:buNone/>
            </a:pPr>
            <a:r>
              <a:rPr lang="en-US" sz="2600" b="1" dirty="0">
                <a:solidFill>
                  <a:srgbClr val="818CF8"/>
                </a:solidFill>
                <a:latin typeface="Consolas" pitchFamily="34" charset="0"/>
                <a:ea typeface="Consolas" pitchFamily="34" charset="-122"/>
                <a:cs typeface="Consolas" pitchFamily="34" charset="-120"/>
              </a:rPr>
              <a:t>?</a:t>
            </a:r>
            <a:endParaRPr lang="en-US" sz="2600" dirty="0"/>
          </a:p>
        </p:txBody>
      </p:sp>
      <p:sp>
        <p:nvSpPr>
          <p:cNvPr id="13" name="Text 11"/>
          <p:cNvSpPr txBox="1"/>
          <p:nvPr/>
        </p:nvSpPr>
        <p:spPr>
          <a:xfrm>
            <a:off x="4719218" y="3566160"/>
            <a:ext cx="2753258" cy="45720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Errors ≠ accusations</a:t>
            </a:r>
            <a:endParaRPr lang="en-US" sz="1900" dirty="0"/>
          </a:p>
        </p:txBody>
      </p:sp>
      <p:sp>
        <p:nvSpPr>
          <p:cNvPr id="14" name="Text 12"/>
          <p:cNvSpPr txBox="1"/>
          <p:nvPr/>
        </p:nvSpPr>
        <p:spPr>
          <a:xfrm>
            <a:off x="4719218" y="416052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A failed, timed-out or unparseable check resolves to “unclear”, never a contradiction.</a:t>
            </a:r>
            <a:endParaRPr lang="en-US" sz="1600" dirty="0"/>
          </a:p>
        </p:txBody>
      </p:sp>
      <p:sp>
        <p:nvSpPr>
          <p:cNvPr id="15" name="Shape 13"/>
          <p:cNvSpPr/>
          <p:nvPr/>
        </p:nvSpPr>
        <p:spPr>
          <a:xfrm>
            <a:off x="8158277" y="2103120"/>
            <a:ext cx="3484778" cy="3383280"/>
          </a:xfrm>
          <a:prstGeom prst="roundRect">
            <a:avLst>
              <a:gd name="adj" fmla="val 3784"/>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6" name="Shape 14"/>
          <p:cNvSpPr/>
          <p:nvPr/>
        </p:nvSpPr>
        <p:spPr>
          <a:xfrm>
            <a:off x="8524037" y="2514600"/>
            <a:ext cx="777240" cy="777240"/>
          </a:xfrm>
          <a:prstGeom prst="ellipse">
            <a:avLst/>
          </a:prstGeom>
          <a:solidFill>
            <a:srgbClr val="0A1120"/>
          </a:solidFill>
          <a:ln w="19050">
            <a:solidFill>
              <a:srgbClr val="FCA5A5"/>
            </a:solidFill>
            <a:prstDash val="solid"/>
          </a:ln>
        </p:spPr>
        <p:txBody>
          <a:bodyPr/>
          <a:p/>
        </p:txBody>
      </p:sp>
      <p:sp>
        <p:nvSpPr>
          <p:cNvPr id="17" name="Text 15"/>
          <p:cNvSpPr txBox="1"/>
          <p:nvPr/>
        </p:nvSpPr>
        <p:spPr>
          <a:xfrm>
            <a:off x="8524037" y="2514600"/>
            <a:ext cx="777240" cy="777240"/>
          </a:xfrm>
          <a:prstGeom prst="rect">
            <a:avLst/>
          </a:prstGeom>
          <a:noFill/>
          <a:ln/>
        </p:spPr>
        <p:txBody>
          <a:bodyPr wrap="square" lIns="0" tIns="0" rIns="0" bIns="0" rtlCol="0" anchor="ctr"/>
          <a:lstStyle/>
          <a:p>
            <a:pPr algn="ctr" indent="0" marL="0">
              <a:buNone/>
            </a:pPr>
            <a:r>
              <a:rPr lang="en-US" sz="2600" b="1" dirty="0">
                <a:solidFill>
                  <a:srgbClr val="FCA5A5"/>
                </a:solidFill>
                <a:latin typeface="Consolas" pitchFamily="34" charset="0"/>
                <a:ea typeface="Consolas" pitchFamily="34" charset="-122"/>
                <a:cs typeface="Consolas" pitchFamily="34" charset="-120"/>
              </a:rPr>
              <a:t>!</a:t>
            </a:r>
            <a:endParaRPr lang="en-US" sz="2600" dirty="0"/>
          </a:p>
        </p:txBody>
      </p:sp>
      <p:sp>
        <p:nvSpPr>
          <p:cNvPr id="18" name="Text 16"/>
          <p:cNvSpPr txBox="1"/>
          <p:nvPr/>
        </p:nvSpPr>
        <p:spPr>
          <a:xfrm>
            <a:off x="8524037" y="3566160"/>
            <a:ext cx="2753258" cy="457200"/>
          </a:xfrm>
          <a:prstGeom prst="rect">
            <a:avLst/>
          </a:prstGeom>
          <a:noFill/>
          <a:ln/>
        </p:spPr>
        <p:txBody>
          <a:bodyPr wrap="square" lIns="0" tIns="0" rIns="0" bIns="0" rtlCol="0" anchor="t"/>
          <a:lstStyle/>
          <a:p>
            <a:pPr indent="0" marL="0">
              <a:buNone/>
            </a:pPr>
            <a:r>
              <a:rPr lang="en-US" sz="1900" b="1" dirty="0">
                <a:solidFill>
                  <a:srgbClr val="F8FAFC"/>
                </a:solidFill>
                <a:latin typeface="Arial" pitchFamily="34" charset="0"/>
                <a:ea typeface="Arial" pitchFamily="34" charset="-122"/>
                <a:cs typeface="Arial" pitchFamily="34" charset="-120"/>
              </a:rPr>
              <a:t>Evidence, or no alert</a:t>
            </a:r>
            <a:endParaRPr lang="en-US" sz="1900" dirty="0"/>
          </a:p>
        </p:txBody>
      </p:sp>
      <p:sp>
        <p:nvSpPr>
          <p:cNvPr id="19" name="Text 17"/>
          <p:cNvSpPr txBox="1"/>
          <p:nvPr/>
        </p:nvSpPr>
        <p:spPr>
          <a:xfrm>
            <a:off x="8524037" y="4160520"/>
            <a:ext cx="2753258" cy="1188720"/>
          </a:xfrm>
          <a:prstGeom prst="rect">
            <a:avLst/>
          </a:prstGeom>
          <a:noFill/>
          <a:ln/>
        </p:spPr>
        <p:txBody>
          <a:bodyPr wrap="square" lIns="0" tIns="0" rIns="0" bIns="0" rtlCol="0" anchor="t"/>
          <a:lstStyle/>
          <a:p>
            <a:pPr indent="0" marL="0">
              <a:lnSpc>
                <a:spcPct val="110000"/>
              </a:lnSpc>
              <a:buNone/>
            </a:pPr>
            <a:r>
              <a:rPr lang="en-US" sz="1600" dirty="0">
                <a:solidFill>
                  <a:srgbClr val="CBD5E1"/>
                </a:solidFill>
                <a:latin typeface="Arial" pitchFamily="34" charset="0"/>
                <a:ea typeface="Arial" pitchFamily="34" charset="-122"/>
                <a:cs typeface="Arial" pitchFamily="34" charset="-120"/>
              </a:rPr>
              <a:t>Every alert cites a specific clause ID. Each clause fires at most once per 20 seconds.</a:t>
            </a:r>
            <a:endParaRPr lang="en-US" sz="1600" dirty="0"/>
          </a:p>
        </p:txBody>
      </p:sp>
      <p:sp>
        <p:nvSpPr>
          <p:cNvPr id="20" name="Text 18"/>
          <p:cNvSpPr txBox="1"/>
          <p:nvPr/>
        </p:nvSpPr>
        <p:spPr>
          <a:xfrm>
            <a:off x="548640" y="5806440"/>
            <a:ext cx="11094415" cy="411480"/>
          </a:xfrm>
          <a:prstGeom prst="rect">
            <a:avLst/>
          </a:prstGeom>
          <a:noFill/>
          <a:ln/>
        </p:spPr>
        <p:txBody>
          <a:bodyPr wrap="square" lIns="0" tIns="0" rIns="0" bIns="0" rtlCol="0" anchor="t"/>
          <a:lstStyle/>
          <a:p>
            <a:pPr algn="ctr" indent="0" marL="0">
              <a:buNone/>
            </a:pPr>
            <a:r>
              <a:rPr lang="en-US" sz="1800" i="1" dirty="0">
                <a:solidFill>
                  <a:srgbClr val="94A3B8"/>
                </a:solidFill>
                <a:latin typeface="Arial" pitchFamily="34" charset="0"/>
                <a:ea typeface="Arial" pitchFamily="34" charset="-122"/>
                <a:cs typeface="Arial" pitchFamily="34" charset="-120"/>
              </a:rPr>
              <a:t>A false accusation is worse than a missed one.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MEASURED, NOT PROJECTED</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09 / 10</a:t>
            </a:r>
            <a:endParaRPr lang="en-US" sz="1100" dirty="0"/>
          </a:p>
        </p:txBody>
      </p:sp>
      <p:sp>
        <p:nvSpPr>
          <p:cNvPr id="4" name="Text 2"/>
          <p:cNvSpPr txBox="1"/>
          <p:nvPr/>
        </p:nvSpPr>
        <p:spPr>
          <a:xfrm>
            <a:off x="548640" y="777240"/>
            <a:ext cx="11094415" cy="914400"/>
          </a:xfrm>
          <a:prstGeom prst="rect">
            <a:avLst/>
          </a:prstGeom>
          <a:noFill/>
          <a:ln/>
        </p:spPr>
        <p:txBody>
          <a:bodyPr wrap="square" lIns="0" tIns="0" rIns="0" bIns="0" rtlCol="0" anchor="t"/>
          <a:lstStyle/>
          <a:p>
            <a:pPr indent="0" marL="0">
              <a:buNone/>
            </a:pPr>
            <a:r>
              <a:rPr lang="en-US" sz="3600" b="1" dirty="0">
                <a:solidFill>
                  <a:srgbClr val="F8FAFC"/>
                </a:solidFill>
                <a:latin typeface="Arial" pitchFamily="34" charset="0"/>
                <a:ea typeface="Arial" pitchFamily="34" charset="-122"/>
                <a:cs typeface="Arial" pitchFamily="34" charset="-120"/>
              </a:rPr>
              <a:t>Live end-to-end runs, real connections</a:t>
            </a:r>
            <a:endParaRPr lang="en-US" sz="3600" dirty="0"/>
          </a:p>
        </p:txBody>
      </p:sp>
      <p:sp>
        <p:nvSpPr>
          <p:cNvPr id="5" name="Shape 3"/>
          <p:cNvSpPr/>
          <p:nvPr/>
        </p:nvSpPr>
        <p:spPr>
          <a:xfrm>
            <a:off x="548640" y="2011680"/>
            <a:ext cx="2567864" cy="2148840"/>
          </a:xfrm>
          <a:prstGeom prst="roundRect">
            <a:avLst>
              <a:gd name="adj" fmla="val 595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6" name="Text 4"/>
          <p:cNvSpPr txBox="1"/>
          <p:nvPr/>
        </p:nvSpPr>
        <p:spPr>
          <a:xfrm>
            <a:off x="822960" y="2331720"/>
            <a:ext cx="2019224" cy="1005840"/>
          </a:xfrm>
          <a:prstGeom prst="rect">
            <a:avLst/>
          </a:prstGeom>
          <a:noFill/>
          <a:ln/>
        </p:spPr>
        <p:txBody>
          <a:bodyPr wrap="square" lIns="0" tIns="0" rIns="0" bIns="0" rtlCol="0" anchor="ctr"/>
          <a:lstStyle/>
          <a:p>
            <a:pPr indent="0" marL="0">
              <a:buNone/>
            </a:pPr>
            <a:r>
              <a:rPr lang="en-US" sz="4000" b="1" dirty="0">
                <a:solidFill>
                  <a:srgbClr val="818CF8"/>
                </a:solidFill>
                <a:latin typeface="Arial" pitchFamily="34" charset="0"/>
                <a:ea typeface="Arial" pitchFamily="34" charset="-122"/>
                <a:cs typeface="Arial" pitchFamily="34" charset="-120"/>
              </a:rPr>
              <a:t>~5 s</a:t>
            </a:r>
            <a:endParaRPr lang="en-US" sz="4000" dirty="0"/>
          </a:p>
        </p:txBody>
      </p:sp>
      <p:sp>
        <p:nvSpPr>
          <p:cNvPr id="7" name="Text 5"/>
          <p:cNvSpPr txBox="1"/>
          <p:nvPr/>
        </p:nvSpPr>
        <p:spPr>
          <a:xfrm>
            <a:off x="822960" y="3429000"/>
            <a:ext cx="2019224" cy="548640"/>
          </a:xfrm>
          <a:prstGeom prst="rect">
            <a:avLst/>
          </a:prstGeom>
          <a:noFill/>
          <a:ln/>
        </p:spPr>
        <p:txBody>
          <a:bodyPr wrap="square" lIns="0" tIns="0" rIns="0" bIns="0" rtlCol="0" anchor="t"/>
          <a:lstStyle/>
          <a:p>
            <a:pPr indent="0" marL="0">
              <a:buNone/>
            </a:pPr>
            <a:r>
              <a:rPr lang="en-US" sz="1500" dirty="0">
                <a:solidFill>
                  <a:srgbClr val="CBD5E1"/>
                </a:solidFill>
                <a:latin typeface="Arial" pitchFamily="34" charset="0"/>
                <a:ea typeface="Arial" pitchFamily="34" charset="-122"/>
                <a:cs typeface="Arial" pitchFamily="34" charset="-120"/>
              </a:rPr>
              <a:t>sentence end to alert (4–6.5 s, five alerts)</a:t>
            </a:r>
            <a:endParaRPr lang="en-US" sz="1500" dirty="0"/>
          </a:p>
        </p:txBody>
      </p:sp>
      <p:sp>
        <p:nvSpPr>
          <p:cNvPr id="8" name="Shape 6"/>
          <p:cNvSpPr/>
          <p:nvPr/>
        </p:nvSpPr>
        <p:spPr>
          <a:xfrm>
            <a:off x="3390824" y="2011680"/>
            <a:ext cx="2567864" cy="2148840"/>
          </a:xfrm>
          <a:prstGeom prst="roundRect">
            <a:avLst>
              <a:gd name="adj" fmla="val 595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9" name="Text 7"/>
          <p:cNvSpPr txBox="1"/>
          <p:nvPr/>
        </p:nvSpPr>
        <p:spPr>
          <a:xfrm>
            <a:off x="3665144" y="2331720"/>
            <a:ext cx="2019224" cy="1005840"/>
          </a:xfrm>
          <a:prstGeom prst="rect">
            <a:avLst/>
          </a:prstGeom>
          <a:noFill/>
          <a:ln/>
        </p:spPr>
        <p:txBody>
          <a:bodyPr wrap="square" lIns="0" tIns="0" rIns="0" bIns="0" rtlCol="0" anchor="ctr"/>
          <a:lstStyle/>
          <a:p>
            <a:pPr indent="0" marL="0">
              <a:buNone/>
            </a:pPr>
            <a:r>
              <a:rPr lang="en-US" sz="4000" b="1" dirty="0">
                <a:solidFill>
                  <a:srgbClr val="22C55E"/>
                </a:solidFill>
                <a:latin typeface="Arial" pitchFamily="34" charset="0"/>
                <a:ea typeface="Arial" pitchFamily="34" charset="-122"/>
                <a:cs typeface="Arial" pitchFamily="34" charset="-120"/>
              </a:rPr>
              <a:t>1.0</a:t>
            </a:r>
            <a:endParaRPr lang="en-US" sz="4000" dirty="0"/>
          </a:p>
        </p:txBody>
      </p:sp>
      <p:sp>
        <p:nvSpPr>
          <p:cNvPr id="10" name="Text 8"/>
          <p:cNvSpPr txBox="1"/>
          <p:nvPr/>
        </p:nvSpPr>
        <p:spPr>
          <a:xfrm>
            <a:off x="3665144" y="3429000"/>
            <a:ext cx="2019224" cy="548640"/>
          </a:xfrm>
          <a:prstGeom prst="rect">
            <a:avLst/>
          </a:prstGeom>
          <a:noFill/>
          <a:ln/>
        </p:spPr>
        <p:txBody>
          <a:bodyPr wrap="square" lIns="0" tIns="0" rIns="0" bIns="0" rtlCol="0" anchor="t"/>
          <a:lstStyle/>
          <a:p>
            <a:pPr indent="0" marL="0">
              <a:buNone/>
            </a:pPr>
            <a:r>
              <a:rPr lang="en-US" sz="1500" dirty="0">
                <a:solidFill>
                  <a:srgbClr val="CBD5E1"/>
                </a:solidFill>
                <a:latin typeface="Arial" pitchFamily="34" charset="0"/>
                <a:ea typeface="Arial" pitchFamily="34" charset="-122"/>
                <a:cs typeface="Arial" pitchFamily="34" charset="-120"/>
              </a:rPr>
              <a:t>agent transcript vs. clause text</a:t>
            </a:r>
            <a:endParaRPr lang="en-US" sz="1500" dirty="0"/>
          </a:p>
        </p:txBody>
      </p:sp>
      <p:sp>
        <p:nvSpPr>
          <p:cNvPr id="11" name="Shape 9"/>
          <p:cNvSpPr/>
          <p:nvPr/>
        </p:nvSpPr>
        <p:spPr>
          <a:xfrm>
            <a:off x="6233008" y="2011680"/>
            <a:ext cx="2567864" cy="2148840"/>
          </a:xfrm>
          <a:prstGeom prst="roundRect">
            <a:avLst>
              <a:gd name="adj" fmla="val 595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2" name="Text 10"/>
          <p:cNvSpPr txBox="1"/>
          <p:nvPr/>
        </p:nvSpPr>
        <p:spPr>
          <a:xfrm>
            <a:off x="6507328" y="2331720"/>
            <a:ext cx="2019224" cy="1005840"/>
          </a:xfrm>
          <a:prstGeom prst="rect">
            <a:avLst/>
          </a:prstGeom>
          <a:noFill/>
          <a:ln/>
        </p:spPr>
        <p:txBody>
          <a:bodyPr wrap="square" lIns="0" tIns="0" rIns="0" bIns="0" rtlCol="0" anchor="ctr"/>
          <a:lstStyle/>
          <a:p>
            <a:pPr indent="0" marL="0">
              <a:buNone/>
            </a:pPr>
            <a:r>
              <a:rPr lang="en-US" sz="4000" b="1" dirty="0">
                <a:solidFill>
                  <a:srgbClr val="22D3EE"/>
                </a:solidFill>
                <a:latin typeface="Arial" pitchFamily="34" charset="0"/>
                <a:ea typeface="Arial" pitchFamily="34" charset="-122"/>
                <a:cs typeface="Arial" pitchFamily="34" charset="-120"/>
              </a:rPr>
              <a:t>~0.2 s</a:t>
            </a:r>
            <a:endParaRPr lang="en-US" sz="4000" dirty="0"/>
          </a:p>
        </p:txBody>
      </p:sp>
      <p:sp>
        <p:nvSpPr>
          <p:cNvPr id="13" name="Text 11"/>
          <p:cNvSpPr txBox="1"/>
          <p:nvPr/>
        </p:nvSpPr>
        <p:spPr>
          <a:xfrm>
            <a:off x="6507328" y="3429000"/>
            <a:ext cx="2019224" cy="548640"/>
          </a:xfrm>
          <a:prstGeom prst="rect">
            <a:avLst/>
          </a:prstGeom>
          <a:noFill/>
          <a:ln/>
        </p:spPr>
        <p:txBody>
          <a:bodyPr wrap="square" lIns="0" tIns="0" rIns="0" bIns="0" rtlCol="0" anchor="t"/>
          <a:lstStyle/>
          <a:p>
            <a:pPr indent="0" marL="0">
              <a:buNone/>
            </a:pPr>
            <a:r>
              <a:rPr lang="en-US" sz="1500" dirty="0">
                <a:solidFill>
                  <a:srgbClr val="CBD5E1"/>
                </a:solidFill>
                <a:latin typeface="Arial" pitchFamily="34" charset="0"/>
                <a:ea typeface="Arial" pitchFamily="34" charset="-122"/>
                <a:cs typeface="Arial" pitchFamily="34" charset="-120"/>
              </a:rPr>
              <a:t>speak request to first audio (78–890 ms)</a:t>
            </a:r>
            <a:endParaRPr lang="en-US" sz="1500" dirty="0"/>
          </a:p>
        </p:txBody>
      </p:sp>
      <p:sp>
        <p:nvSpPr>
          <p:cNvPr id="14" name="Shape 12"/>
          <p:cNvSpPr/>
          <p:nvPr/>
        </p:nvSpPr>
        <p:spPr>
          <a:xfrm>
            <a:off x="9075191" y="2011680"/>
            <a:ext cx="2567864" cy="2148840"/>
          </a:xfrm>
          <a:prstGeom prst="roundRect">
            <a:avLst>
              <a:gd name="adj" fmla="val 595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5" name="Text 13"/>
          <p:cNvSpPr txBox="1"/>
          <p:nvPr/>
        </p:nvSpPr>
        <p:spPr>
          <a:xfrm>
            <a:off x="9349511" y="2331720"/>
            <a:ext cx="2019224" cy="1005840"/>
          </a:xfrm>
          <a:prstGeom prst="rect">
            <a:avLst/>
          </a:prstGeom>
          <a:noFill/>
          <a:ln/>
        </p:spPr>
        <p:txBody>
          <a:bodyPr wrap="square" lIns="0" tIns="0" rIns="0" bIns="0" rtlCol="0" anchor="ctr"/>
          <a:lstStyle/>
          <a:p>
            <a:pPr indent="0" marL="0">
              <a:buNone/>
            </a:pPr>
            <a:r>
              <a:rPr lang="en-US" sz="4000" b="1" dirty="0">
                <a:solidFill>
                  <a:srgbClr val="F8FAFC"/>
                </a:solidFill>
                <a:latin typeface="Arial" pitchFamily="34" charset="0"/>
                <a:ea typeface="Arial" pitchFamily="34" charset="-122"/>
                <a:cs typeface="Arial" pitchFamily="34" charset="-120"/>
              </a:rPr>
              <a:t>~$0.15</a:t>
            </a:r>
            <a:endParaRPr lang="en-US" sz="4000" dirty="0"/>
          </a:p>
        </p:txBody>
      </p:sp>
      <p:sp>
        <p:nvSpPr>
          <p:cNvPr id="16" name="Text 14"/>
          <p:cNvSpPr txBox="1"/>
          <p:nvPr/>
        </p:nvSpPr>
        <p:spPr>
          <a:xfrm>
            <a:off x="9349511" y="3429000"/>
            <a:ext cx="2019224" cy="548640"/>
          </a:xfrm>
          <a:prstGeom prst="rect">
            <a:avLst/>
          </a:prstGeom>
          <a:noFill/>
          <a:ln/>
        </p:spPr>
        <p:txBody>
          <a:bodyPr wrap="square" lIns="0" tIns="0" rIns="0" bIns="0" rtlCol="0" anchor="t"/>
          <a:lstStyle/>
          <a:p>
            <a:pPr indent="0" marL="0">
              <a:buNone/>
            </a:pPr>
            <a:r>
              <a:rPr lang="en-US" sz="1500" dirty="0">
                <a:solidFill>
                  <a:srgbClr val="CBD5E1"/>
                </a:solidFill>
                <a:latin typeface="Arial" pitchFamily="34" charset="0"/>
                <a:ea typeface="Arial" pitchFamily="34" charset="-122"/>
                <a:cs typeface="Arial" pitchFamily="34" charset="-120"/>
              </a:rPr>
              <a:t>API usage, full call ($0.08–$0.15)</a:t>
            </a:r>
            <a:endParaRPr lang="en-US" sz="1500" dirty="0"/>
          </a:p>
        </p:txBody>
      </p:sp>
      <p:sp>
        <p:nvSpPr>
          <p:cNvPr id="17" name="Shape 15"/>
          <p:cNvSpPr/>
          <p:nvPr/>
        </p:nvSpPr>
        <p:spPr>
          <a:xfrm>
            <a:off x="594360" y="4617720"/>
            <a:ext cx="164592" cy="164592"/>
          </a:xfrm>
          <a:prstGeom prst="ellipse">
            <a:avLst/>
          </a:prstGeom>
          <a:solidFill>
            <a:srgbClr val="22C55E"/>
          </a:solidFill>
          <a:ln w="12700">
            <a:solidFill>
              <a:srgbClr val="22C55E"/>
            </a:solidFill>
            <a:prstDash val="solid"/>
          </a:ln>
        </p:spPr>
        <p:txBody>
          <a:bodyPr/>
          <a:p/>
        </p:txBody>
      </p:sp>
      <p:sp>
        <p:nvSpPr>
          <p:cNvPr id="18" name="Text 16"/>
          <p:cNvSpPr txBox="1"/>
          <p:nvPr/>
        </p:nvSpPr>
        <p:spPr>
          <a:xfrm>
            <a:off x="960120" y="4526280"/>
            <a:ext cx="10682935" cy="411480"/>
          </a:xfrm>
          <a:prstGeom prst="rect">
            <a:avLst/>
          </a:prstGeom>
          <a:noFill/>
          <a:ln/>
        </p:spPr>
        <p:txBody>
          <a:bodyPr wrap="square" lIns="0" tIns="0" rIns="0" bIns="0" rtlCol="0" anchor="t"/>
          <a:lstStyle/>
          <a:p>
            <a:pPr indent="0" marL="0">
              <a:buNone/>
            </a:pPr>
            <a:r>
              <a:rPr lang="en-US" sz="1700" dirty="0">
                <a:solidFill>
                  <a:srgbClr val="F8FAFC"/>
                </a:solidFill>
                <a:latin typeface="Arial" pitchFamily="34" charset="0"/>
                <a:ea typeface="Arial" pitchFamily="34" charset="-122"/>
                <a:cs typeface="Arial" pitchFamily="34" charset="-120"/>
              </a:rPr>
              <a:t>False claims on §3.1 and §6.1 both caught; consistent lines raised nothing</a:t>
            </a:r>
            <a:endParaRPr lang="en-US" sz="1700" dirty="0"/>
          </a:p>
        </p:txBody>
      </p:sp>
      <p:sp>
        <p:nvSpPr>
          <p:cNvPr id="19" name="Shape 17"/>
          <p:cNvSpPr/>
          <p:nvPr/>
        </p:nvSpPr>
        <p:spPr>
          <a:xfrm>
            <a:off x="594360" y="5120640"/>
            <a:ext cx="164592" cy="164592"/>
          </a:xfrm>
          <a:prstGeom prst="ellipse">
            <a:avLst/>
          </a:prstGeom>
          <a:solidFill>
            <a:srgbClr val="22D3EE"/>
          </a:solidFill>
          <a:ln w="12700">
            <a:solidFill>
              <a:srgbClr val="22D3EE"/>
            </a:solidFill>
            <a:prstDash val="solid"/>
          </a:ln>
        </p:spPr>
        <p:txBody>
          <a:bodyPr/>
          <a:p/>
        </p:txBody>
      </p:sp>
      <p:sp>
        <p:nvSpPr>
          <p:cNvPr id="20" name="Text 18"/>
          <p:cNvSpPr txBox="1"/>
          <p:nvPr/>
        </p:nvSpPr>
        <p:spPr>
          <a:xfrm>
            <a:off x="960120" y="5029200"/>
            <a:ext cx="10682935" cy="411480"/>
          </a:xfrm>
          <a:prstGeom prst="rect">
            <a:avLst/>
          </a:prstGeom>
          <a:noFill/>
          <a:ln/>
        </p:spPr>
        <p:txBody>
          <a:bodyPr wrap="square" lIns="0" tIns="0" rIns="0" bIns="0" rtlCol="0" anchor="t"/>
          <a:lstStyle/>
          <a:p>
            <a:pPr indent="0" marL="0">
              <a:buNone/>
            </a:pPr>
            <a:r>
              <a:rPr lang="en-US" sz="1700" dirty="0">
                <a:solidFill>
                  <a:srgbClr val="F8FAFC"/>
                </a:solidFill>
                <a:latin typeface="Arial" pitchFamily="34" charset="0"/>
                <a:ea typeface="Arial" pitchFamily="34" charset="-122"/>
                <a:cs typeface="Arial" pitchFamily="34" charset="-120"/>
              </a:rPr>
              <a:t>A monitor's spoken question about §4.2 answered correctly by voice</a:t>
            </a:r>
            <a:endParaRPr lang="en-US" sz="1700" dirty="0"/>
          </a:p>
        </p:txBody>
      </p:sp>
      <p:sp>
        <p:nvSpPr>
          <p:cNvPr id="21" name="Shape 19"/>
          <p:cNvSpPr/>
          <p:nvPr/>
        </p:nvSpPr>
        <p:spPr>
          <a:xfrm>
            <a:off x="594360" y="5623560"/>
            <a:ext cx="164592" cy="164592"/>
          </a:xfrm>
          <a:prstGeom prst="ellipse">
            <a:avLst/>
          </a:prstGeom>
          <a:solidFill>
            <a:srgbClr val="818CF8"/>
          </a:solidFill>
          <a:ln w="12700">
            <a:solidFill>
              <a:srgbClr val="818CF8"/>
            </a:solidFill>
            <a:prstDash val="solid"/>
          </a:ln>
        </p:spPr>
        <p:txBody>
          <a:bodyPr/>
          <a:p/>
        </p:txBody>
      </p:sp>
      <p:sp>
        <p:nvSpPr>
          <p:cNvPr id="22" name="Text 20"/>
          <p:cNvSpPr txBox="1"/>
          <p:nvPr/>
        </p:nvSpPr>
        <p:spPr>
          <a:xfrm>
            <a:off x="960120" y="5532120"/>
            <a:ext cx="10682935" cy="411480"/>
          </a:xfrm>
          <a:prstGeom prst="rect">
            <a:avLst/>
          </a:prstGeom>
          <a:noFill/>
          <a:ln/>
        </p:spPr>
        <p:txBody>
          <a:bodyPr wrap="square" lIns="0" tIns="0" rIns="0" bIns="0" rtlCol="0" anchor="t"/>
          <a:lstStyle/>
          <a:p>
            <a:pPr indent="0" marL="0">
              <a:buNone/>
            </a:pPr>
            <a:r>
              <a:rPr lang="en-US" sz="1700" dirty="0">
                <a:solidFill>
                  <a:srgbClr val="F8FAFC"/>
                </a:solidFill>
                <a:latin typeface="Arial" pitchFamily="34" charset="0"/>
                <a:ea typeface="Arial" pitchFamily="34" charset="-122"/>
                <a:cs typeface="Arial" pitchFamily="34" charset="-120"/>
              </a:rPr>
              <a:t>151 server tests passing</a:t>
            </a:r>
            <a:endParaRPr lang="en-US" sz="1700" dirty="0"/>
          </a:p>
        </p:txBody>
      </p:sp>
      <p:sp>
        <p:nvSpPr>
          <p:cNvPr id="23" name="Text 21"/>
          <p:cNvSpPr txBox="1"/>
          <p:nvPr/>
        </p:nvSpPr>
        <p:spPr>
          <a:xfrm>
            <a:off x="548640" y="6172200"/>
            <a:ext cx="11094415" cy="32004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Runs of 2026-09-15 to 2026-09-17: real AssemblyAI Streaming STT, Voice Agent and Gemini connections, scripted rep lines fed through the pipeline.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WHO IT'S FOR, AND WHAT'S NEXT</a:t>
            </a:r>
            <a:endParaRPr lang="en-US" sz="1200" dirty="0"/>
          </a:p>
        </p:txBody>
      </p:sp>
      <p:sp>
        <p:nvSpPr>
          <p:cNvPr id="3" name="Text 1"/>
          <p:cNvSpPr txBox="1"/>
          <p:nvPr/>
        </p:nvSpPr>
        <p:spPr>
          <a:xfrm>
            <a:off x="10271455" y="411480"/>
            <a:ext cx="1371600" cy="274320"/>
          </a:xfrm>
          <a:prstGeom prst="rect">
            <a:avLst/>
          </a:prstGeom>
          <a:noFill/>
          <a:ln/>
        </p:spPr>
        <p:txBody>
          <a:bodyPr wrap="square" lIns="0" tIns="0" rIns="0" bIns="0" rtlCol="0" anchor="t"/>
          <a:lstStyle/>
          <a:p>
            <a:pPr algn="r" indent="0" marL="0">
              <a:buNone/>
            </a:pPr>
            <a:r>
              <a:rPr lang="en-US" sz="1100" dirty="0">
                <a:solidFill>
                  <a:srgbClr val="94A3B8"/>
                </a:solidFill>
                <a:latin typeface="Consolas" pitchFamily="34" charset="0"/>
                <a:ea typeface="Consolas" pitchFamily="34" charset="-122"/>
                <a:cs typeface="Consolas" pitchFamily="34" charset="-120"/>
              </a:rPr>
              <a:t>10 / 10</a:t>
            </a:r>
            <a:endParaRPr lang="en-US" sz="1100" dirty="0"/>
          </a:p>
        </p:txBody>
      </p:sp>
      <p:sp>
        <p:nvSpPr>
          <p:cNvPr id="4" name="Shape 2"/>
          <p:cNvSpPr/>
          <p:nvPr/>
        </p:nvSpPr>
        <p:spPr>
          <a:xfrm>
            <a:off x="548640" y="1005840"/>
            <a:ext cx="5364328" cy="2743200"/>
          </a:xfrm>
          <a:prstGeom prst="roundRect">
            <a:avLst>
              <a:gd name="adj" fmla="val 466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5" name="Text 3"/>
          <p:cNvSpPr txBox="1"/>
          <p:nvPr/>
        </p:nvSpPr>
        <p:spPr>
          <a:xfrm>
            <a:off x="914400" y="1280160"/>
            <a:ext cx="4632808" cy="274320"/>
          </a:xfrm>
          <a:prstGeom prst="rect">
            <a:avLst/>
          </a:prstGeom>
          <a:noFill/>
          <a:ln/>
        </p:spPr>
        <p:txBody>
          <a:bodyPr wrap="square" lIns="0" tIns="0" rIns="0" bIns="0" rtlCol="0" anchor="t"/>
          <a:lstStyle/>
          <a:p>
            <a:pPr indent="0" marL="0">
              <a:buNone/>
            </a:pPr>
            <a:r>
              <a:rPr lang="en-US" sz="1300" b="1" spc="200" kern="0" dirty="0">
                <a:solidFill>
                  <a:srgbClr val="22D3EE"/>
                </a:solidFill>
                <a:latin typeface="Consolas" pitchFamily="34" charset="0"/>
                <a:ea typeface="Consolas" pitchFamily="34" charset="-122"/>
                <a:cs typeface="Consolas" pitchFamily="34" charset="-120"/>
              </a:rPr>
              <a:t>BUILT FOR</a:t>
            </a:r>
            <a:endParaRPr lang="en-US" sz="1300" dirty="0"/>
          </a:p>
        </p:txBody>
      </p:sp>
      <p:sp>
        <p:nvSpPr>
          <p:cNvPr id="6" name="Shape 4"/>
          <p:cNvSpPr/>
          <p:nvPr/>
        </p:nvSpPr>
        <p:spPr>
          <a:xfrm>
            <a:off x="932688" y="1938528"/>
            <a:ext cx="146304" cy="146304"/>
          </a:xfrm>
          <a:prstGeom prst="ellipse">
            <a:avLst/>
          </a:prstGeom>
          <a:solidFill>
            <a:srgbClr val="22D3EE"/>
          </a:solidFill>
          <a:ln w="12700">
            <a:solidFill>
              <a:srgbClr val="22D3EE"/>
            </a:solidFill>
            <a:prstDash val="solid"/>
          </a:ln>
        </p:spPr>
        <p:txBody>
          <a:bodyPr/>
          <a:p/>
        </p:txBody>
      </p:sp>
      <p:sp>
        <p:nvSpPr>
          <p:cNvPr id="7" name="Text 5"/>
          <p:cNvSpPr txBox="1"/>
          <p:nvPr/>
        </p:nvSpPr>
        <p:spPr>
          <a:xfrm>
            <a:off x="1280160" y="1828800"/>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Sales-ops teams running live calls</a:t>
            </a:r>
            <a:endParaRPr lang="en-US" sz="1800" dirty="0"/>
          </a:p>
        </p:txBody>
      </p:sp>
      <p:sp>
        <p:nvSpPr>
          <p:cNvPr id="8" name="Shape 6"/>
          <p:cNvSpPr/>
          <p:nvPr/>
        </p:nvSpPr>
        <p:spPr>
          <a:xfrm>
            <a:off x="932688" y="2505456"/>
            <a:ext cx="146304" cy="146304"/>
          </a:xfrm>
          <a:prstGeom prst="ellipse">
            <a:avLst/>
          </a:prstGeom>
          <a:solidFill>
            <a:srgbClr val="22D3EE"/>
          </a:solidFill>
          <a:ln w="12700">
            <a:solidFill>
              <a:srgbClr val="22D3EE"/>
            </a:solidFill>
            <a:prstDash val="solid"/>
          </a:ln>
        </p:spPr>
        <p:txBody>
          <a:bodyPr/>
          <a:p/>
        </p:txBody>
      </p:sp>
      <p:sp>
        <p:nvSpPr>
          <p:cNvPr id="9" name="Text 7"/>
          <p:cNvSpPr txBox="1"/>
          <p:nvPr/>
        </p:nvSpPr>
        <p:spPr>
          <a:xfrm>
            <a:off x="1280160" y="2395728"/>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Compliance teams who own the contract</a:t>
            </a:r>
            <a:endParaRPr lang="en-US" sz="1800" dirty="0"/>
          </a:p>
        </p:txBody>
      </p:sp>
      <p:sp>
        <p:nvSpPr>
          <p:cNvPr id="10" name="Shape 8"/>
          <p:cNvSpPr/>
          <p:nvPr/>
        </p:nvSpPr>
        <p:spPr>
          <a:xfrm>
            <a:off x="932688" y="3072384"/>
            <a:ext cx="146304" cy="146304"/>
          </a:xfrm>
          <a:prstGeom prst="ellipse">
            <a:avLst/>
          </a:prstGeom>
          <a:solidFill>
            <a:srgbClr val="22D3EE"/>
          </a:solidFill>
          <a:ln w="12700">
            <a:solidFill>
              <a:srgbClr val="22D3EE"/>
            </a:solidFill>
            <a:prstDash val="solid"/>
          </a:ln>
        </p:spPr>
        <p:txBody>
          <a:bodyPr/>
          <a:p/>
        </p:txBody>
      </p:sp>
      <p:sp>
        <p:nvSpPr>
          <p:cNvPr id="11" name="Text 9"/>
          <p:cNvSpPr txBox="1"/>
          <p:nvPr/>
        </p:nvSpPr>
        <p:spPr>
          <a:xfrm>
            <a:off x="1280160" y="2962656"/>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$0.08–$0.15 API usage per call</a:t>
            </a:r>
            <a:endParaRPr lang="en-US" sz="1800" dirty="0"/>
          </a:p>
        </p:txBody>
      </p:sp>
      <p:sp>
        <p:nvSpPr>
          <p:cNvPr id="12" name="Shape 10"/>
          <p:cNvSpPr/>
          <p:nvPr/>
        </p:nvSpPr>
        <p:spPr>
          <a:xfrm>
            <a:off x="6278728" y="1005840"/>
            <a:ext cx="5364328" cy="2743200"/>
          </a:xfrm>
          <a:prstGeom prst="roundRect">
            <a:avLst>
              <a:gd name="adj" fmla="val 4667"/>
            </a:avLst>
          </a:prstGeom>
          <a:solidFill>
            <a:srgbClr val="1B2336"/>
          </a:solidFill>
          <a:ln w="12700">
            <a:solidFill>
              <a:srgbClr val="334155"/>
            </a:solidFill>
            <a:prstDash val="solid"/>
          </a:ln>
          <a:effectLst>
            <a:outerShdw sx="100000" sy="100000" kx="0" ky="0" algn="bl" rotWithShape="0" blurRad="228600" dist="50800" dir="5400000">
              <a:srgbClr val="000000">
                <a:alpha val="35000"/>
              </a:srgbClr>
            </a:outerShdw>
          </a:effectLst>
        </p:spPr>
        <p:txBody>
          <a:bodyPr/>
          <a:p/>
        </p:txBody>
      </p:sp>
      <p:sp>
        <p:nvSpPr>
          <p:cNvPr id="13" name="Text 11"/>
          <p:cNvSpPr txBox="1"/>
          <p:nvPr/>
        </p:nvSpPr>
        <p:spPr>
          <a:xfrm>
            <a:off x="6644488" y="1280160"/>
            <a:ext cx="4632808" cy="274320"/>
          </a:xfrm>
          <a:prstGeom prst="rect">
            <a:avLst/>
          </a:prstGeom>
          <a:noFill/>
          <a:ln/>
        </p:spPr>
        <p:txBody>
          <a:bodyPr wrap="square" lIns="0" tIns="0" rIns="0" bIns="0" rtlCol="0" anchor="t"/>
          <a:lstStyle/>
          <a:p>
            <a:pPr indent="0" marL="0">
              <a:buNone/>
            </a:pPr>
            <a:r>
              <a:rPr lang="en-US" sz="1300" b="1" spc="200" kern="0" dirty="0">
                <a:solidFill>
                  <a:srgbClr val="818CF8"/>
                </a:solidFill>
                <a:latin typeface="Consolas" pitchFamily="34" charset="0"/>
                <a:ea typeface="Consolas" pitchFamily="34" charset="-122"/>
                <a:cs typeface="Consolas" pitchFamily="34" charset="-120"/>
              </a:rPr>
              <a:t>NEXT</a:t>
            </a:r>
            <a:endParaRPr lang="en-US" sz="1300" dirty="0"/>
          </a:p>
        </p:txBody>
      </p:sp>
      <p:sp>
        <p:nvSpPr>
          <p:cNvPr id="14" name="Shape 12"/>
          <p:cNvSpPr/>
          <p:nvPr/>
        </p:nvSpPr>
        <p:spPr>
          <a:xfrm>
            <a:off x="6662776" y="1938528"/>
            <a:ext cx="146304" cy="146304"/>
          </a:xfrm>
          <a:prstGeom prst="ellipse">
            <a:avLst/>
          </a:prstGeom>
          <a:solidFill>
            <a:srgbClr val="818CF8"/>
          </a:solidFill>
          <a:ln w="12700">
            <a:solidFill>
              <a:srgbClr val="818CF8"/>
            </a:solidFill>
            <a:prstDash val="solid"/>
          </a:ln>
        </p:spPr>
        <p:txBody>
          <a:bodyPr/>
          <a:p/>
        </p:txBody>
      </p:sp>
      <p:sp>
        <p:nvSpPr>
          <p:cNvPr id="15" name="Text 13"/>
          <p:cNvSpPr txBox="1"/>
          <p:nvPr/>
        </p:nvSpPr>
        <p:spPr>
          <a:xfrm>
            <a:off x="7010248" y="1828800"/>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Browser-mic path, hardened end to end</a:t>
            </a:r>
            <a:endParaRPr lang="en-US" sz="1800" dirty="0"/>
          </a:p>
        </p:txBody>
      </p:sp>
      <p:sp>
        <p:nvSpPr>
          <p:cNvPr id="16" name="Shape 14"/>
          <p:cNvSpPr/>
          <p:nvPr/>
        </p:nvSpPr>
        <p:spPr>
          <a:xfrm>
            <a:off x="6662776" y="2505456"/>
            <a:ext cx="146304" cy="146304"/>
          </a:xfrm>
          <a:prstGeom prst="ellipse">
            <a:avLst/>
          </a:prstGeom>
          <a:solidFill>
            <a:srgbClr val="818CF8"/>
          </a:solidFill>
          <a:ln w="12700">
            <a:solidFill>
              <a:srgbClr val="818CF8"/>
            </a:solidFill>
            <a:prstDash val="solid"/>
          </a:ln>
        </p:spPr>
        <p:txBody>
          <a:bodyPr/>
          <a:p/>
        </p:txBody>
      </p:sp>
      <p:sp>
        <p:nvSpPr>
          <p:cNvPr id="17" name="Text 15"/>
          <p:cNvSpPr txBox="1"/>
          <p:nvPr/>
        </p:nvSpPr>
        <p:spPr>
          <a:xfrm>
            <a:off x="7010248" y="2395728"/>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A hosted, deployed instance</a:t>
            </a:r>
            <a:endParaRPr lang="en-US" sz="1800" dirty="0"/>
          </a:p>
        </p:txBody>
      </p:sp>
      <p:sp>
        <p:nvSpPr>
          <p:cNvPr id="18" name="Shape 16"/>
          <p:cNvSpPr/>
          <p:nvPr/>
        </p:nvSpPr>
        <p:spPr>
          <a:xfrm>
            <a:off x="6662776" y="3072384"/>
            <a:ext cx="146304" cy="146304"/>
          </a:xfrm>
          <a:prstGeom prst="ellipse">
            <a:avLst/>
          </a:prstGeom>
          <a:solidFill>
            <a:srgbClr val="818CF8"/>
          </a:solidFill>
          <a:ln w="12700">
            <a:solidFill>
              <a:srgbClr val="818CF8"/>
            </a:solidFill>
            <a:prstDash val="solid"/>
          </a:ln>
        </p:spPr>
        <p:txBody>
          <a:bodyPr/>
          <a:p/>
        </p:txBody>
      </p:sp>
      <p:sp>
        <p:nvSpPr>
          <p:cNvPr id="19" name="Text 17"/>
          <p:cNvSpPr txBox="1"/>
          <p:nvPr/>
        </p:nvSpPr>
        <p:spPr>
          <a:xfrm>
            <a:off x="7010248" y="2962656"/>
            <a:ext cx="4267048" cy="411480"/>
          </a:xfrm>
          <a:prstGeom prst="rect">
            <a:avLst/>
          </a:prstGeom>
          <a:noFill/>
          <a:ln/>
        </p:spPr>
        <p:txBody>
          <a:bodyPr wrap="square" lIns="0" tIns="0" rIns="0" bIns="0" rtlCol="0" anchor="t"/>
          <a:lstStyle/>
          <a:p>
            <a:pPr indent="0" marL="0">
              <a:buNone/>
            </a:pPr>
            <a:r>
              <a:rPr lang="en-US" sz="1800" dirty="0">
                <a:solidFill>
                  <a:srgbClr val="F8FAFC"/>
                </a:solidFill>
                <a:latin typeface="Arial" pitchFamily="34" charset="0"/>
                <a:ea typeface="Arial" pitchFamily="34" charset="-122"/>
                <a:cs typeface="Arial" pitchFamily="34" charset="-120"/>
              </a:rPr>
              <a:t>Multiple contracts per call</a:t>
            </a:r>
            <a:endParaRPr lang="en-US" sz="1800" dirty="0"/>
          </a:p>
        </p:txBody>
      </p:sp>
      <p:sp>
        <p:nvSpPr>
          <p:cNvPr id="20" name="Text 18"/>
          <p:cNvSpPr txBox="1"/>
          <p:nvPr/>
        </p:nvSpPr>
        <p:spPr>
          <a:xfrm>
            <a:off x="548640" y="4069080"/>
            <a:ext cx="11094415" cy="1280160"/>
          </a:xfrm>
          <a:prstGeom prst="rect">
            <a:avLst/>
          </a:prstGeom>
          <a:noFill/>
          <a:ln/>
        </p:spPr>
        <p:txBody>
          <a:bodyPr wrap="square" lIns="0" tIns="0" rIns="0" bIns="0" rtlCol="0" anchor="t"/>
          <a:lstStyle/>
          <a:p>
            <a:pPr indent="0" marL="0">
              <a:lnSpc>
                <a:spcPct val="100000"/>
              </a:lnSpc>
              <a:buNone/>
            </a:pPr>
            <a:r>
              <a:rPr lang="en-US" sz="3200" b="1" dirty="0">
                <a:solidFill>
                  <a:srgbClr val="F8FAFC"/>
                </a:solidFill>
                <a:latin typeface="Arial" pitchFamily="34" charset="0"/>
                <a:ea typeface="Arial" pitchFamily="34" charset="-122"/>
                <a:cs typeface="Arial" pitchFamily="34" charset="-120"/>
              </a:rPr>
              <a:t>The correction a rep hears is the contract itself, spoken while the call is still happening.</a:t>
            </a:r>
            <a:endParaRPr lang="en-US" sz="3200" dirty="0"/>
          </a:p>
        </p:txBody>
      </p:sp>
      <p:sp>
        <p:nvSpPr>
          <p:cNvPr id="21"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dirty="0">
                <a:solidFill>
                  <a:srgbClr val="22D3EE"/>
                </a:solidFill>
                <a:latin typeface="Consolas" pitchFamily="34" charset="0"/>
                <a:ea typeface="Consolas" pitchFamily="34" charset="-122"/>
                <a:cs typeface="Consolas" pitchFamily="34" charset="-120"/>
              </a:rPr>
              <a:t>github.com/ishal1410/clausecatcher</a:t>
            </a:r>
            <a:pPr indent="0" marL="0">
              <a:buNone/>
            </a:pPr>
            <a:r>
              <a:rPr lang="en-US" sz="1400" dirty="0">
                <a:solidFill>
                  <a:srgbClr val="94A3B8"/>
                </a:solidFill>
                <a:latin typeface="Consolas" pitchFamily="34" charset="0"/>
                <a:ea typeface="Consolas" pitchFamily="34" charset="-122"/>
                <a:cs typeface="Consolas" pitchFamily="34" charset="-120"/>
              </a:rPr>
              <a:t>   ·   Built solo for the AssemblyAI Voice Agent Hackathon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ClauseCatcher</dc:title>
  <dc:subject>PptxGenJS Presentation</dc:subject>
  <dc:creator>ClauseCatcher</dc:creator>
  <cp:lastModifiedBy>ClauseCatcher</cp:lastModifiedBy>
  <cp:revision>1</cp:revision>
  <dcterms:created xsi:type="dcterms:W3CDTF">2026-09-17T05:49:25Z</dcterms:created>
  <dcterms:modified xsi:type="dcterms:W3CDTF">2026-09-17T05:49:25Z</dcterms:modified>
</cp:coreProperties>
</file>